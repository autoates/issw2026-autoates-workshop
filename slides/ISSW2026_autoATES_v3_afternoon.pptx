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BFW has introduced autoATES. This block is the v3.0 change, then notebook 03. About 15 minutes. Do not re-teach the whole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figure. Typical PRA into alpha 30. Infrequent PRA into alpha 18. PRA calibrated to 613 ski-area start zones. The live notebook uses the bundled Connaught forest layer in that same role. Runout detail belongs to the BFW block. The sentence under the title on the figure is the point: the two tracks are not averaged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a parameter combination. The line is the best detection at a given extra area. v2.0 is one point on that envelope. Typical sits a little further along. On the right-hand panel, start zones below 30°, infrequent is the setting that climbs the curve. Keep the ISSW thresholds in the room. Do not retune them live to look more like an expert map. Do not quote a detection rate unless you are reading it off this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weighted kappa against the expert map. Connaught is the red bar, marked held out, 0.73. The grey band is inter-mapper agreement, so 1.0 is not the target. Panel (b): agreement with the autoATES starting map. Use the figure’s own words for the groups: corrected, redrawn, independent. Connaught is independent. This is context. It is not a scoreboard for the overlay we open at 15:05.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out loud before anyone opens the expert layer. If the room wants a number, go back one slide. Do not invent a second statistic.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Inputs, then Tier A floors (raise only; route options are greyed as not implemented), then Tier B scores that may stay silent, then the higher of the floor and the averaged score, then class 0 if it is clearly met. Class 0 can overrule a floor. The next slide is the same rules in the colours the map will use. The flowchart palette is the poster palette.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Colours match the QGIS style and the Connaught map, not the poster flowchart. Tier B (PRA, runout, neighbourhood slope, opening size) is averaged, and the higher of that average and the floor is kept. A Tier B score may stay silent. Route options are not implemented. Class 0 is a safety decision: calling avalanche terrain non-avalanche is the error that hurts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km², ALOS about 21 m on this clip. Typical is the tighter layer. Infrequent fills in lower-angle and forested start zones. If a laptop stalls, copy data/03_pra/outputs_reference/ and continue. Do not switch to the 5 m lidar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map, legend is on the figure. Pink is Complex and purple is Extreme, matching the QGIS style. South Coast is optional and QGIS-only at the end. Do not start a second live AOI.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is 14:50–15:05. Flow-Py is the step most likely to stall; reference rasters are expected there. Total on this clip was about 5 seconds on the desktop with numba. Laptops will be slower. We do not start a second AOI after 15:45.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1234440"/>
            <a:ext cx="10972800" cy="292608"/>
          </a:xfrm>
          <a:prstGeom prst="rect">
            <a:avLst/>
          </a:prstGeom>
          <a:noFill/>
          <a:ln/>
        </p:spPr>
        <p:txBody>
          <a:bodyPr wrap="square" lIns="0" tIns="0" rIns="0" bIns="0" rtlCol="0" anchor="ctr"/>
          <a:lstStyle/>
          <a:p>
            <a:pPr indent="0" marL="0">
              <a:buNone/>
            </a:pPr>
            <a:r>
              <a:rPr lang="en-US" sz="1500" spc="140" kern="0" dirty="0">
                <a:solidFill>
                  <a:srgbClr val="A8C0CC"/>
                </a:solidFill>
                <a:latin typeface="Calibri" pitchFamily="34" charset="0"/>
                <a:ea typeface="Calibri" pitchFamily="34" charset="-122"/>
                <a:cs typeface="Calibri" pitchFamily="34" charset="-120"/>
              </a:rPr>
              <a:t>AFTERNOON  ·  13:00</a:t>
            </a:r>
            <a:endParaRPr lang="en-US" sz="1500" dirty="0"/>
          </a:p>
        </p:txBody>
      </p:sp>
      <p:sp>
        <p:nvSpPr>
          <p:cNvPr id="3" name="Text 1"/>
          <p:cNvSpPr/>
          <p:nvPr/>
        </p:nvSpPr>
        <p:spPr>
          <a:xfrm>
            <a:off x="640080" y="1645920"/>
            <a:ext cx="10972800" cy="6400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What changed in autoATES v3.0</a:t>
            </a:r>
            <a:endParaRPr lang="en-US" sz="4000" dirty="0"/>
          </a:p>
        </p:txBody>
      </p:sp>
      <p:sp>
        <p:nvSpPr>
          <p:cNvPr id="4" name="Text 2"/>
          <p:cNvSpPr/>
          <p:nvPr/>
        </p:nvSpPr>
        <p:spPr>
          <a:xfrm>
            <a:off x="640080" y="2468880"/>
            <a:ext cx="10241280" cy="1051560"/>
          </a:xfrm>
          <a:prstGeom prst="rect">
            <a:avLst/>
          </a:prstGeom>
          <a:noFill/>
          <a:ln/>
        </p:spPr>
        <p:txBody>
          <a:bodyPr wrap="square" lIns="0" tIns="0" rIns="0" bIns="0" rtlCol="0" anchor="ctr"/>
          <a:lstStyle/>
          <a:p>
            <a:pPr indent="0" marL="0">
              <a:buNone/>
            </a:pPr>
            <a:r>
              <a:rPr lang="en-US" sz="2000" dirty="0">
                <a:solidFill>
                  <a:srgbClr val="E8EEF0"/>
                </a:solidFill>
                <a:latin typeface="Calibri" pitchFamily="34" charset="0"/>
                <a:ea typeface="Calibri" pitchFamily="34" charset="-122"/>
                <a:cs typeface="Calibri" pitchFamily="34" charset="-120"/>
              </a:rPr>
              <a:t>Two scenarios, what the validation supports, and how a cell gets its class.</a:t>
            </a:r>
            <a:endParaRPr lang="en-US" sz="2000" dirty="0"/>
          </a:p>
          <a:p>
            <a:pPr indent="0" marL="0">
              <a:buNone/>
            </a:pPr>
            <a:r>
              <a:rPr lang="en-US" sz="2000" dirty="0">
                <a:solidFill>
                  <a:srgbClr val="E8EEF0"/>
                </a:solidFill>
                <a:latin typeface="Calibri" pitchFamily="34" charset="0"/>
                <a:ea typeface="Calibri" pitchFamily="34" charset="-122"/>
                <a:cs typeface="Calibri" pitchFamily="34" charset="-120"/>
              </a:rPr>
              <a:t>Then we run that model on Connaught Creek.</a:t>
            </a:r>
            <a:endParaRPr lang="en-US" sz="2000" dirty="0"/>
          </a:p>
        </p:txBody>
      </p:sp>
      <p:sp>
        <p:nvSpPr>
          <p:cNvPr id="5" name="Shape 3"/>
          <p:cNvSpPr/>
          <p:nvPr/>
        </p:nvSpPr>
        <p:spPr>
          <a:xfrm>
            <a:off x="640080" y="4160520"/>
            <a:ext cx="3520440" cy="1325880"/>
          </a:xfrm>
          <a:prstGeom prst="rect">
            <a:avLst/>
          </a:prstGeom>
          <a:solidFill>
            <a:srgbClr val="24485C"/>
          </a:solidFill>
          <a:ln/>
        </p:spPr>
      </p:sp>
      <p:sp>
        <p:nvSpPr>
          <p:cNvPr id="6" name="Text 4"/>
          <p:cNvSpPr/>
          <p:nvPr/>
        </p:nvSpPr>
        <p:spPr>
          <a:xfrm>
            <a:off x="841248" y="4297680"/>
            <a:ext cx="310896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Two scenarios</a:t>
            </a:r>
            <a:endParaRPr lang="en-US" sz="1800" dirty="0"/>
          </a:p>
        </p:txBody>
      </p:sp>
      <p:sp>
        <p:nvSpPr>
          <p:cNvPr id="7" name="Text 5"/>
          <p:cNvSpPr/>
          <p:nvPr/>
        </p:nvSpPr>
        <p:spPr>
          <a:xfrm>
            <a:off x="841248" y="4736592"/>
            <a:ext cx="3108960" cy="502920"/>
          </a:xfrm>
          <a:prstGeom prst="rect">
            <a:avLst/>
          </a:prstGeom>
          <a:noFill/>
          <a:ln/>
        </p:spPr>
        <p:txBody>
          <a:bodyPr wrap="square" lIns="0" tIns="0" rIns="0" bIns="0" rtlCol="0" anchor="ctr"/>
          <a:lstStyle/>
          <a:p>
            <a:pPr indent="0" marL="0">
              <a:buNone/>
            </a:pPr>
            <a:r>
              <a:rPr lang="en-US" sz="1500" dirty="0">
                <a:solidFill>
                  <a:srgbClr val="D5E2E8"/>
                </a:solidFill>
                <a:latin typeface="Calibri" pitchFamily="34" charset="0"/>
                <a:ea typeface="Calibri" pitchFamily="34" charset="-122"/>
                <a:cs typeface="Calibri" pitchFamily="34" charset="-120"/>
              </a:rPr>
              <a:t>Typical and infrequent, in parallel</a:t>
            </a:r>
            <a:endParaRPr lang="en-US" sz="1500" dirty="0"/>
          </a:p>
        </p:txBody>
      </p:sp>
      <p:sp>
        <p:nvSpPr>
          <p:cNvPr id="8" name="Shape 6"/>
          <p:cNvSpPr/>
          <p:nvPr/>
        </p:nvSpPr>
        <p:spPr>
          <a:xfrm>
            <a:off x="4343400" y="4160520"/>
            <a:ext cx="3520440" cy="1325880"/>
          </a:xfrm>
          <a:prstGeom prst="rect">
            <a:avLst/>
          </a:prstGeom>
          <a:solidFill>
            <a:srgbClr val="24485C"/>
          </a:solidFill>
          <a:ln/>
        </p:spPr>
      </p:sp>
      <p:sp>
        <p:nvSpPr>
          <p:cNvPr id="9" name="Text 7"/>
          <p:cNvSpPr/>
          <p:nvPr/>
        </p:nvSpPr>
        <p:spPr>
          <a:xfrm>
            <a:off x="4544568" y="4297680"/>
            <a:ext cx="310896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Validation</a:t>
            </a:r>
            <a:endParaRPr lang="en-US" sz="1800" dirty="0"/>
          </a:p>
        </p:txBody>
      </p:sp>
      <p:sp>
        <p:nvSpPr>
          <p:cNvPr id="10" name="Text 8"/>
          <p:cNvSpPr/>
          <p:nvPr/>
        </p:nvSpPr>
        <p:spPr>
          <a:xfrm>
            <a:off x="4544568" y="4736592"/>
            <a:ext cx="3108960" cy="502920"/>
          </a:xfrm>
          <a:prstGeom prst="rect">
            <a:avLst/>
          </a:prstGeom>
          <a:noFill/>
          <a:ln/>
        </p:spPr>
        <p:txBody>
          <a:bodyPr wrap="square" lIns="0" tIns="0" rIns="0" bIns="0" rtlCol="0" anchor="ctr"/>
          <a:lstStyle/>
          <a:p>
            <a:pPr indent="0" marL="0">
              <a:buNone/>
            </a:pPr>
            <a:r>
              <a:rPr lang="en-US" sz="1500" dirty="0">
                <a:solidFill>
                  <a:srgbClr val="D5E2E8"/>
                </a:solidFill>
                <a:latin typeface="Calibri" pitchFamily="34" charset="0"/>
                <a:ea typeface="Calibri" pitchFamily="34" charset="-122"/>
                <a:cs typeface="Calibri" pitchFamily="34" charset="-120"/>
              </a:rPr>
              <a:t>Nine regions. One held out.</a:t>
            </a:r>
            <a:endParaRPr lang="en-US" sz="1500" dirty="0"/>
          </a:p>
        </p:txBody>
      </p:sp>
      <p:sp>
        <p:nvSpPr>
          <p:cNvPr id="11" name="Shape 9"/>
          <p:cNvSpPr/>
          <p:nvPr/>
        </p:nvSpPr>
        <p:spPr>
          <a:xfrm>
            <a:off x="8046720" y="4160520"/>
            <a:ext cx="3520440" cy="1325880"/>
          </a:xfrm>
          <a:prstGeom prst="rect">
            <a:avLst/>
          </a:prstGeom>
          <a:solidFill>
            <a:srgbClr val="24485C"/>
          </a:solidFill>
          <a:ln/>
        </p:spPr>
      </p:sp>
      <p:sp>
        <p:nvSpPr>
          <p:cNvPr id="12" name="Text 10"/>
          <p:cNvSpPr/>
          <p:nvPr/>
        </p:nvSpPr>
        <p:spPr>
          <a:xfrm>
            <a:off x="8247888" y="4297680"/>
            <a:ext cx="3108960" cy="38404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Classifier</a:t>
            </a:r>
            <a:endParaRPr lang="en-US" sz="1800" dirty="0"/>
          </a:p>
        </p:txBody>
      </p:sp>
      <p:sp>
        <p:nvSpPr>
          <p:cNvPr id="13" name="Text 11"/>
          <p:cNvSpPr/>
          <p:nvPr/>
        </p:nvSpPr>
        <p:spPr>
          <a:xfrm>
            <a:off x="8247888" y="4736592"/>
            <a:ext cx="3108960" cy="502920"/>
          </a:xfrm>
          <a:prstGeom prst="rect">
            <a:avLst/>
          </a:prstGeom>
          <a:noFill/>
          <a:ln/>
        </p:spPr>
        <p:txBody>
          <a:bodyPr wrap="square" lIns="0" tIns="0" rIns="0" bIns="0" rtlCol="0" anchor="ctr"/>
          <a:lstStyle/>
          <a:p>
            <a:pPr indent="0" marL="0">
              <a:buNone/>
            </a:pPr>
            <a:r>
              <a:rPr lang="en-US" sz="1500" dirty="0">
                <a:solidFill>
                  <a:srgbClr val="D5E2E8"/>
                </a:solidFill>
                <a:latin typeface="Calibri" pitchFamily="34" charset="0"/>
                <a:ea typeface="Calibri" pitchFamily="34" charset="-122"/>
                <a:cs typeface="Calibri" pitchFamily="34" charset="-120"/>
              </a:rPr>
              <a:t>Floors first. Then an average.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11247120" cy="237744"/>
          </a:xfrm>
          <a:prstGeom prst="rect">
            <a:avLst/>
          </a:prstGeom>
          <a:noFill/>
          <a:ln/>
        </p:spPr>
        <p:txBody>
          <a:bodyPr wrap="square" lIns="0" tIns="0" rIns="0" bIns="0" rtlCol="0" anchor="ctr"/>
          <a:lstStyle/>
          <a:p>
            <a:pPr indent="0" marL="0">
              <a:buNone/>
            </a:pPr>
            <a:r>
              <a:rPr lang="en-US" sz="1300" spc="120" kern="0" dirty="0">
                <a:solidFill>
                  <a:srgbClr val="5C6570"/>
                </a:solidFill>
                <a:latin typeface="Calibri" pitchFamily="34" charset="0"/>
                <a:ea typeface="Calibri" pitchFamily="34" charset="-122"/>
                <a:cs typeface="Calibri" pitchFamily="34" charset="-120"/>
              </a:rPr>
              <a:t>THE CHANGE</a:t>
            </a:r>
            <a:endParaRPr lang="en-US" sz="1300" dirty="0"/>
          </a:p>
        </p:txBody>
      </p:sp>
      <p:sp>
        <p:nvSpPr>
          <p:cNvPr id="3" name="Text 1"/>
          <p:cNvSpPr/>
          <p:nvPr/>
        </p:nvSpPr>
        <p:spPr>
          <a:xfrm>
            <a:off x="457200" y="438912"/>
            <a:ext cx="11247120" cy="420624"/>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Two tracks. They meet in the classifier.</a:t>
            </a:r>
            <a:endParaRPr lang="en-US" sz="2600" dirty="0"/>
          </a:p>
        </p:txBody>
      </p:sp>
      <p:pic>
        <p:nvPicPr>
          <p:cNvPr id="4" name="Image 0" descr="/home/sykes-sfu/Documents/Code/ATES/issw-workshop/issw2026-autoates-workshop/slides/figures/poster/ates_workflow.png">    </p:cNvPr>
          <p:cNvPicPr>
            <a:picLocks noChangeAspect="1"/>
          </p:cNvPicPr>
          <p:nvPr/>
        </p:nvPicPr>
        <p:blipFill>
          <a:blip r:embed="rId1"/>
          <a:stretch>
            <a:fillRect/>
          </a:stretch>
        </p:blipFill>
        <p:spPr>
          <a:xfrm>
            <a:off x="365760" y="1282419"/>
            <a:ext cx="11430000" cy="4841802"/>
          </a:xfrm>
          <a:prstGeom prst="rect">
            <a:avLst/>
          </a:prstGeom>
        </p:spPr>
      </p:pic>
      <p:sp>
        <p:nvSpPr>
          <p:cNvPr id="5" name="Text 2"/>
          <p:cNvSpPr/>
          <p:nvPr/>
        </p:nvSpPr>
        <p:spPr>
          <a:xfrm>
            <a:off x="457200" y="6537960"/>
            <a:ext cx="9601200" cy="201168"/>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ISSW 2026  ·  autoATES v3.0  ·  afternoon</a:t>
            </a:r>
            <a:endParaRPr lang="en-US" sz="1200" dirty="0"/>
          </a:p>
        </p:txBody>
      </p:sp>
      <p:sp>
        <p:nvSpPr>
          <p:cNvPr id="6" name="Text 3"/>
          <p:cNvSpPr/>
          <p:nvPr/>
        </p:nvSpPr>
        <p:spPr>
          <a:xfrm>
            <a:off x="10881360" y="6537960"/>
            <a:ext cx="822960" cy="201168"/>
          </a:xfrm>
          <a:prstGeom prst="rect">
            <a:avLst/>
          </a:prstGeom>
          <a:noFill/>
          <a:ln/>
        </p:spPr>
        <p:txBody>
          <a:bodyPr wrap="square" lIns="0" tIns="0" rIns="0" bIns="0" rtlCol="0" anchor="ctr"/>
          <a:lstStyle/>
          <a:p>
            <a:pPr algn="r" indent="0" marL="0">
              <a:buNone/>
            </a:pPr>
            <a:r>
              <a:rPr lang="en-US" sz="1200" dirty="0">
                <a:solidFill>
                  <a:srgbClr val="5C6570"/>
                </a:solidFill>
                <a:latin typeface="Calibri" pitchFamily="34" charset="0"/>
                <a:ea typeface="Calibri" pitchFamily="34" charset="-122"/>
                <a:cs typeface="Calibri"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11247120" cy="237744"/>
          </a:xfrm>
          <a:prstGeom prst="rect">
            <a:avLst/>
          </a:prstGeom>
          <a:noFill/>
          <a:ln/>
        </p:spPr>
        <p:txBody>
          <a:bodyPr wrap="square" lIns="0" tIns="0" rIns="0" bIns="0" rtlCol="0" anchor="ctr"/>
          <a:lstStyle/>
          <a:p>
            <a:pPr indent="0" marL="0">
              <a:buNone/>
            </a:pPr>
            <a:r>
              <a:rPr lang="en-US" sz="1300" spc="120" kern="0" dirty="0">
                <a:solidFill>
                  <a:srgbClr val="5C6570"/>
                </a:solidFill>
                <a:latin typeface="Calibri" pitchFamily="34" charset="0"/>
                <a:ea typeface="Calibri" pitchFamily="34" charset="-122"/>
                <a:cs typeface="Calibri" pitchFamily="34" charset="-120"/>
              </a:rPr>
              <a:t>WHY TWO SCENARIOS</a:t>
            </a:r>
            <a:endParaRPr lang="en-US" sz="1300" dirty="0"/>
          </a:p>
        </p:txBody>
      </p:sp>
      <p:sp>
        <p:nvSpPr>
          <p:cNvPr id="3" name="Text 1"/>
          <p:cNvSpPr/>
          <p:nvPr/>
        </p:nvSpPr>
        <p:spPr>
          <a:xfrm>
            <a:off x="457200" y="438912"/>
            <a:ext cx="11247120" cy="420624"/>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Infrequent is the layer that sees start zones below 30°.</a:t>
            </a:r>
            <a:endParaRPr lang="en-US" sz="2600" dirty="0"/>
          </a:p>
        </p:txBody>
      </p:sp>
      <p:pic>
        <p:nvPicPr>
          <p:cNvPr id="4" name="Image 0" descr="/home/sykes-sfu/Documents/Code/ATES/issw-workshop/issw2026-autoates-workshop/slides/figures/poster/fig2_pra.png">    </p:cNvPr>
          <p:cNvPicPr>
            <a:picLocks noChangeAspect="1"/>
          </p:cNvPicPr>
          <p:nvPr/>
        </p:nvPicPr>
        <p:blipFill>
          <a:blip r:embed="rId1"/>
          <a:stretch>
            <a:fillRect/>
          </a:stretch>
        </p:blipFill>
        <p:spPr>
          <a:xfrm>
            <a:off x="759856" y="987552"/>
            <a:ext cx="10641807" cy="5212080"/>
          </a:xfrm>
          <a:prstGeom prst="rect">
            <a:avLst/>
          </a:prstGeom>
        </p:spPr>
      </p:pic>
      <p:sp>
        <p:nvSpPr>
          <p:cNvPr id="5" name="Text 2"/>
          <p:cNvSpPr/>
          <p:nvPr/>
        </p:nvSpPr>
        <p:spPr>
          <a:xfrm>
            <a:off x="457200" y="6537960"/>
            <a:ext cx="9601200" cy="201168"/>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ISSW 2026  ·  autoATES v3.0  ·  afternoon</a:t>
            </a:r>
            <a:endParaRPr lang="en-US" sz="1200" dirty="0"/>
          </a:p>
        </p:txBody>
      </p:sp>
      <p:sp>
        <p:nvSpPr>
          <p:cNvPr id="6" name="Text 3"/>
          <p:cNvSpPr/>
          <p:nvPr/>
        </p:nvSpPr>
        <p:spPr>
          <a:xfrm>
            <a:off x="10881360" y="6537960"/>
            <a:ext cx="822960" cy="201168"/>
          </a:xfrm>
          <a:prstGeom prst="rect">
            <a:avLst/>
          </a:prstGeom>
          <a:noFill/>
          <a:ln/>
        </p:spPr>
        <p:txBody>
          <a:bodyPr wrap="square" lIns="0" tIns="0" rIns="0" bIns="0" rtlCol="0" anchor="ctr"/>
          <a:lstStyle/>
          <a:p>
            <a:pPr algn="r" indent="0" marL="0">
              <a:buNone/>
            </a:pPr>
            <a:r>
              <a:rPr lang="en-US" sz="1200" dirty="0">
                <a:solidFill>
                  <a:srgbClr val="5C6570"/>
                </a:solidFill>
                <a:latin typeface="Calibri" pitchFamily="34" charset="0"/>
                <a:ea typeface="Calibri" pitchFamily="34" charset="-122"/>
                <a:cs typeface="Calibri"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11247120" cy="237744"/>
          </a:xfrm>
          <a:prstGeom prst="rect">
            <a:avLst/>
          </a:prstGeom>
          <a:noFill/>
          <a:ln/>
        </p:spPr>
        <p:txBody>
          <a:bodyPr wrap="square" lIns="0" tIns="0" rIns="0" bIns="0" rtlCol="0" anchor="ctr"/>
          <a:lstStyle/>
          <a:p>
            <a:pPr indent="0" marL="0">
              <a:buNone/>
            </a:pPr>
            <a:r>
              <a:rPr lang="en-US" sz="1300" spc="120" kern="0" dirty="0">
                <a:solidFill>
                  <a:srgbClr val="5C6570"/>
                </a:solidFill>
                <a:latin typeface="Calibri" pitchFamily="34" charset="0"/>
                <a:ea typeface="Calibri" pitchFamily="34" charset="-122"/>
                <a:cs typeface="Calibri" pitchFamily="34" charset="-120"/>
              </a:rPr>
              <a:t>VALIDATION</a:t>
            </a:r>
            <a:endParaRPr lang="en-US" sz="1300" dirty="0"/>
          </a:p>
        </p:txBody>
      </p:sp>
      <p:sp>
        <p:nvSpPr>
          <p:cNvPr id="3" name="Text 1"/>
          <p:cNvSpPr/>
          <p:nvPr/>
        </p:nvSpPr>
        <p:spPr>
          <a:xfrm>
            <a:off x="457200" y="438912"/>
            <a:ext cx="11247120" cy="420624"/>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Connaught was held out.</a:t>
            </a:r>
            <a:endParaRPr lang="en-US" sz="2600" dirty="0"/>
          </a:p>
        </p:txBody>
      </p:sp>
      <p:pic>
        <p:nvPicPr>
          <p:cNvPr id="4" name="Image 0" descr="/home/sykes-sfu/Documents/Code/ATES/issw-workshop/issw2026-autoates-workshop/slides/figures/poster/fig4_validation.png">    </p:cNvPr>
          <p:cNvPicPr>
            <a:picLocks noChangeAspect="1"/>
          </p:cNvPicPr>
          <p:nvPr/>
        </p:nvPicPr>
        <p:blipFill>
          <a:blip r:embed="rId1"/>
          <a:stretch>
            <a:fillRect/>
          </a:stretch>
        </p:blipFill>
        <p:spPr>
          <a:xfrm>
            <a:off x="890699" y="1005840"/>
            <a:ext cx="10380123" cy="5349240"/>
          </a:xfrm>
          <a:prstGeom prst="rect">
            <a:avLst/>
          </a:prstGeom>
        </p:spPr>
      </p:pic>
      <p:sp>
        <p:nvSpPr>
          <p:cNvPr id="5" name="Text 2"/>
          <p:cNvSpPr/>
          <p:nvPr/>
        </p:nvSpPr>
        <p:spPr>
          <a:xfrm>
            <a:off x="457200" y="6537960"/>
            <a:ext cx="9601200" cy="201168"/>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ISSW 2026  ·  autoATES v3.0  ·  afternoon</a:t>
            </a:r>
            <a:endParaRPr lang="en-US" sz="1200" dirty="0"/>
          </a:p>
        </p:txBody>
      </p:sp>
      <p:sp>
        <p:nvSpPr>
          <p:cNvPr id="6" name="Text 3"/>
          <p:cNvSpPr/>
          <p:nvPr/>
        </p:nvSpPr>
        <p:spPr>
          <a:xfrm>
            <a:off x="10881360" y="6537960"/>
            <a:ext cx="822960" cy="201168"/>
          </a:xfrm>
          <a:prstGeom prst="rect">
            <a:avLst/>
          </a:prstGeom>
          <a:noFill/>
          <a:ln/>
        </p:spPr>
        <p:txBody>
          <a:bodyPr wrap="square" lIns="0" tIns="0" rIns="0" bIns="0" rtlCol="0" anchor="ctr"/>
          <a:lstStyle/>
          <a:p>
            <a:pPr algn="r" indent="0" marL="0">
              <a:buNone/>
            </a:pPr>
            <a:r>
              <a:rPr lang="en-US" sz="1200" dirty="0">
                <a:solidFill>
                  <a:srgbClr val="5C6570"/>
                </a:solidFill>
                <a:latin typeface="Calibri" pitchFamily="34" charset="0"/>
                <a:ea typeface="Calibri" pitchFamily="34" charset="-122"/>
                <a:cs typeface="Calibri"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11247120" cy="237744"/>
          </a:xfrm>
          <a:prstGeom prst="rect">
            <a:avLst/>
          </a:prstGeom>
          <a:noFill/>
          <a:ln/>
        </p:spPr>
        <p:txBody>
          <a:bodyPr wrap="square" lIns="0" tIns="0" rIns="0" bIns="0" rtlCol="0" anchor="ctr"/>
          <a:lstStyle/>
          <a:p>
            <a:pPr indent="0" marL="0">
              <a:buNone/>
            </a:pPr>
            <a:r>
              <a:rPr lang="en-US" sz="1300" spc="120" kern="0" dirty="0">
                <a:solidFill>
                  <a:srgbClr val="5C6570"/>
                </a:solidFill>
                <a:latin typeface="Calibri" pitchFamily="34" charset="0"/>
                <a:ea typeface="Calibri" pitchFamily="34" charset="-122"/>
                <a:cs typeface="Calibri" pitchFamily="34" charset="-120"/>
              </a:rPr>
              <a:t>HOW WE WILL USE THAT</a:t>
            </a:r>
            <a:endParaRPr lang="en-US" sz="1300" dirty="0"/>
          </a:p>
        </p:txBody>
      </p:sp>
      <p:sp>
        <p:nvSpPr>
          <p:cNvPr id="3" name="Text 1"/>
          <p:cNvSpPr/>
          <p:nvPr/>
        </p:nvSpPr>
        <p:spPr>
          <a:xfrm>
            <a:off x="457200" y="438912"/>
            <a:ext cx="11247120" cy="420624"/>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Three rules for the Connaught overlay.</a:t>
            </a:r>
            <a:endParaRPr lang="en-US" sz="2600" dirty="0"/>
          </a:p>
        </p:txBody>
      </p:sp>
      <p:sp>
        <p:nvSpPr>
          <p:cNvPr id="4" name="Shape 2"/>
          <p:cNvSpPr/>
          <p:nvPr/>
        </p:nvSpPr>
        <p:spPr>
          <a:xfrm>
            <a:off x="457200" y="1325880"/>
            <a:ext cx="3657600" cy="4709160"/>
          </a:xfrm>
          <a:prstGeom prst="rect">
            <a:avLst/>
          </a:prstGeom>
          <a:solidFill>
            <a:srgbClr val="F4F1EA"/>
          </a:solidFill>
          <a:ln/>
        </p:spPr>
      </p:sp>
      <p:sp>
        <p:nvSpPr>
          <p:cNvPr id="5" name="Shape 3"/>
          <p:cNvSpPr/>
          <p:nvPr/>
        </p:nvSpPr>
        <p:spPr>
          <a:xfrm>
            <a:off x="457200" y="1325880"/>
            <a:ext cx="109728" cy="4709160"/>
          </a:xfrm>
          <a:prstGeom prst="rect">
            <a:avLst/>
          </a:prstGeom>
          <a:solidFill>
            <a:srgbClr val="1B3A4B"/>
          </a:solidFill>
          <a:ln/>
        </p:spPr>
      </p:sp>
      <p:sp>
        <p:nvSpPr>
          <p:cNvPr id="6" name="Text 4"/>
          <p:cNvSpPr/>
          <p:nvPr/>
        </p:nvSpPr>
        <p:spPr>
          <a:xfrm>
            <a:off x="777240" y="1554480"/>
            <a:ext cx="3108960" cy="502920"/>
          </a:xfrm>
          <a:prstGeom prst="rect">
            <a:avLst/>
          </a:prstGeom>
          <a:noFill/>
          <a:ln/>
        </p:spPr>
        <p:txBody>
          <a:bodyPr wrap="square" lIns="0" tIns="0" rIns="0" bIns="0" rtlCol="0" anchor="ctr"/>
          <a:lstStyle/>
          <a:p>
            <a:pPr indent="0" marL="0">
              <a:buNone/>
            </a:pPr>
            <a:r>
              <a:rPr lang="en-US" sz="2800" b="1" dirty="0">
                <a:solidFill>
                  <a:srgbClr val="1B3A4B"/>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777240" y="2194560"/>
            <a:ext cx="3108960" cy="822960"/>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A reference</a:t>
            </a:r>
            <a:endParaRPr lang="en-US" sz="2600" dirty="0"/>
          </a:p>
        </p:txBody>
      </p:sp>
      <p:sp>
        <p:nvSpPr>
          <p:cNvPr id="8" name="Text 6"/>
          <p:cNvSpPr/>
          <p:nvPr/>
        </p:nvSpPr>
        <p:spPr>
          <a:xfrm>
            <a:off x="777240" y="3200400"/>
            <a:ext cx="3108960" cy="237744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The expert map is there for discussion. Agreement between mappers is the ceiling on this comparison.</a:t>
            </a:r>
            <a:endParaRPr lang="en-US" sz="1800" dirty="0"/>
          </a:p>
        </p:txBody>
      </p:sp>
      <p:sp>
        <p:nvSpPr>
          <p:cNvPr id="9" name="Shape 7"/>
          <p:cNvSpPr/>
          <p:nvPr/>
        </p:nvSpPr>
        <p:spPr>
          <a:xfrm>
            <a:off x="4297680" y="1325880"/>
            <a:ext cx="3657600" cy="4709160"/>
          </a:xfrm>
          <a:prstGeom prst="rect">
            <a:avLst/>
          </a:prstGeom>
          <a:solidFill>
            <a:srgbClr val="F4F1EA"/>
          </a:solidFill>
          <a:ln/>
        </p:spPr>
      </p:sp>
      <p:sp>
        <p:nvSpPr>
          <p:cNvPr id="10" name="Shape 8"/>
          <p:cNvSpPr/>
          <p:nvPr/>
        </p:nvSpPr>
        <p:spPr>
          <a:xfrm>
            <a:off x="4297680" y="1325880"/>
            <a:ext cx="109728" cy="4709160"/>
          </a:xfrm>
          <a:prstGeom prst="rect">
            <a:avLst/>
          </a:prstGeom>
          <a:solidFill>
            <a:srgbClr val="1B3A4B"/>
          </a:solidFill>
          <a:ln/>
        </p:spPr>
      </p:sp>
      <p:sp>
        <p:nvSpPr>
          <p:cNvPr id="11" name="Text 9"/>
          <p:cNvSpPr/>
          <p:nvPr/>
        </p:nvSpPr>
        <p:spPr>
          <a:xfrm>
            <a:off x="4617720" y="1554480"/>
            <a:ext cx="3108960" cy="502920"/>
          </a:xfrm>
          <a:prstGeom prst="rect">
            <a:avLst/>
          </a:prstGeom>
          <a:noFill/>
          <a:ln/>
        </p:spPr>
        <p:txBody>
          <a:bodyPr wrap="square" lIns="0" tIns="0" rIns="0" bIns="0" rtlCol="0" anchor="ctr"/>
          <a:lstStyle/>
          <a:p>
            <a:pPr indent="0" marL="0">
              <a:buNone/>
            </a:pPr>
            <a:r>
              <a:rPr lang="en-US" sz="2800" b="1" dirty="0">
                <a:solidFill>
                  <a:srgbClr val="1B3A4B"/>
                </a:solidFill>
                <a:latin typeface="Calibri" pitchFamily="34" charset="0"/>
                <a:ea typeface="Calibri" pitchFamily="34" charset="-122"/>
                <a:cs typeface="Calibri" pitchFamily="34" charset="-120"/>
              </a:rPr>
              <a:t>2</a:t>
            </a:r>
            <a:endParaRPr lang="en-US" sz="2800" dirty="0"/>
          </a:p>
        </p:txBody>
      </p:sp>
      <p:sp>
        <p:nvSpPr>
          <p:cNvPr id="12" name="Text 10"/>
          <p:cNvSpPr/>
          <p:nvPr/>
        </p:nvSpPr>
        <p:spPr>
          <a:xfrm>
            <a:off x="4617720" y="2194560"/>
            <a:ext cx="3108960" cy="822960"/>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Tune the scenarios</a:t>
            </a:r>
            <a:endParaRPr lang="en-US" sz="2600" dirty="0"/>
          </a:p>
        </p:txBody>
      </p:sp>
      <p:sp>
        <p:nvSpPr>
          <p:cNvPr id="13" name="Text 11"/>
          <p:cNvSpPr/>
          <p:nvPr/>
        </p:nvSpPr>
        <p:spPr>
          <a:xfrm>
            <a:off x="4617720" y="3200400"/>
            <a:ext cx="3108960" cy="237744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Regional calibration belongs in the typical and infrequent runs. The class thresholds stay as published.</a:t>
            </a:r>
            <a:endParaRPr lang="en-US" sz="1800" dirty="0"/>
          </a:p>
        </p:txBody>
      </p:sp>
      <p:sp>
        <p:nvSpPr>
          <p:cNvPr id="14" name="Shape 12"/>
          <p:cNvSpPr/>
          <p:nvPr/>
        </p:nvSpPr>
        <p:spPr>
          <a:xfrm>
            <a:off x="8138160" y="1325880"/>
            <a:ext cx="3657600" cy="4709160"/>
          </a:xfrm>
          <a:prstGeom prst="rect">
            <a:avLst/>
          </a:prstGeom>
          <a:solidFill>
            <a:srgbClr val="F4F1EA"/>
          </a:solidFill>
          <a:ln/>
        </p:spPr>
      </p:sp>
      <p:sp>
        <p:nvSpPr>
          <p:cNvPr id="15" name="Shape 13"/>
          <p:cNvSpPr/>
          <p:nvPr/>
        </p:nvSpPr>
        <p:spPr>
          <a:xfrm>
            <a:off x="8138160" y="1325880"/>
            <a:ext cx="109728" cy="4709160"/>
          </a:xfrm>
          <a:prstGeom prst="rect">
            <a:avLst/>
          </a:prstGeom>
          <a:solidFill>
            <a:srgbClr val="1B3A4B"/>
          </a:solidFill>
          <a:ln/>
        </p:spPr>
      </p:sp>
      <p:sp>
        <p:nvSpPr>
          <p:cNvPr id="16" name="Text 14"/>
          <p:cNvSpPr/>
          <p:nvPr/>
        </p:nvSpPr>
        <p:spPr>
          <a:xfrm>
            <a:off x="8458200" y="1554480"/>
            <a:ext cx="3108960" cy="502920"/>
          </a:xfrm>
          <a:prstGeom prst="rect">
            <a:avLst/>
          </a:prstGeom>
          <a:noFill/>
          <a:ln/>
        </p:spPr>
        <p:txBody>
          <a:bodyPr wrap="square" lIns="0" tIns="0" rIns="0" bIns="0" rtlCol="0" anchor="ctr"/>
          <a:lstStyle/>
          <a:p>
            <a:pPr indent="0" marL="0">
              <a:buNone/>
            </a:pPr>
            <a:r>
              <a:rPr lang="en-US" sz="2800" b="1" dirty="0">
                <a:solidFill>
                  <a:srgbClr val="1B3A4B"/>
                </a:solidFill>
                <a:latin typeface="Calibri" pitchFamily="34" charset="0"/>
                <a:ea typeface="Calibri" pitchFamily="34" charset="-122"/>
                <a:cs typeface="Calibri" pitchFamily="34" charset="-120"/>
              </a:rPr>
              <a:t>3</a:t>
            </a:r>
            <a:endParaRPr lang="en-US" sz="2800" dirty="0"/>
          </a:p>
        </p:txBody>
      </p:sp>
      <p:sp>
        <p:nvSpPr>
          <p:cNvPr id="17" name="Text 15"/>
          <p:cNvSpPr/>
          <p:nvPr/>
        </p:nvSpPr>
        <p:spPr>
          <a:xfrm>
            <a:off x="8458200" y="2194560"/>
            <a:ext cx="3108960" cy="822960"/>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Leave the thresholds</a:t>
            </a:r>
            <a:endParaRPr lang="en-US" sz="2600" dirty="0"/>
          </a:p>
        </p:txBody>
      </p:sp>
      <p:sp>
        <p:nvSpPr>
          <p:cNvPr id="18" name="Text 16"/>
          <p:cNvSpPr/>
          <p:nvPr/>
        </p:nvSpPr>
        <p:spPr>
          <a:xfrm>
            <a:off x="8458200" y="3200400"/>
            <a:ext cx="3108960" cy="237744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Editing them in the room so Connaught looks closer to the overlay undoes the v3.0 design.</a:t>
            </a:r>
            <a:endParaRPr lang="en-US" sz="1800" dirty="0"/>
          </a:p>
        </p:txBody>
      </p:sp>
      <p:sp>
        <p:nvSpPr>
          <p:cNvPr id="19" name="Text 17"/>
          <p:cNvSpPr/>
          <p:nvPr/>
        </p:nvSpPr>
        <p:spPr>
          <a:xfrm>
            <a:off x="457200" y="6537960"/>
            <a:ext cx="9601200" cy="201168"/>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ISSW 2026  ·  autoATES v3.0  ·  afternoon</a:t>
            </a:r>
            <a:endParaRPr lang="en-US" sz="1200" dirty="0"/>
          </a:p>
        </p:txBody>
      </p:sp>
      <p:sp>
        <p:nvSpPr>
          <p:cNvPr id="20" name="Text 18"/>
          <p:cNvSpPr/>
          <p:nvPr/>
        </p:nvSpPr>
        <p:spPr>
          <a:xfrm>
            <a:off x="10881360" y="6537960"/>
            <a:ext cx="822960" cy="201168"/>
          </a:xfrm>
          <a:prstGeom prst="rect">
            <a:avLst/>
          </a:prstGeom>
          <a:noFill/>
          <a:ln/>
        </p:spPr>
        <p:txBody>
          <a:bodyPr wrap="square" lIns="0" tIns="0" rIns="0" bIns="0" rtlCol="0" anchor="ctr"/>
          <a:lstStyle/>
          <a:p>
            <a:pPr algn="r" indent="0" marL="0">
              <a:buNone/>
            </a:pPr>
            <a:r>
              <a:rPr lang="en-US" sz="1200" dirty="0">
                <a:solidFill>
                  <a:srgbClr val="5C6570"/>
                </a:solidFill>
                <a:latin typeface="Calibri" pitchFamily="34" charset="0"/>
                <a:ea typeface="Calibri" pitchFamily="34" charset="-122"/>
                <a:cs typeface="Calibri"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11247120" cy="237744"/>
          </a:xfrm>
          <a:prstGeom prst="rect">
            <a:avLst/>
          </a:prstGeom>
          <a:noFill/>
          <a:ln/>
        </p:spPr>
        <p:txBody>
          <a:bodyPr wrap="square" lIns="0" tIns="0" rIns="0" bIns="0" rtlCol="0" anchor="ctr"/>
          <a:lstStyle/>
          <a:p>
            <a:pPr indent="0" marL="0">
              <a:buNone/>
            </a:pPr>
            <a:r>
              <a:rPr lang="en-US" sz="1300" spc="120" kern="0" dirty="0">
                <a:solidFill>
                  <a:srgbClr val="5C6570"/>
                </a:solidFill>
                <a:latin typeface="Calibri" pitchFamily="34" charset="0"/>
                <a:ea typeface="Calibri" pitchFamily="34" charset="-122"/>
                <a:cs typeface="Calibri" pitchFamily="34" charset="-120"/>
              </a:rPr>
              <a:t>THE CLASSIFIER</a:t>
            </a:r>
            <a:endParaRPr lang="en-US" sz="1300" dirty="0"/>
          </a:p>
        </p:txBody>
      </p:sp>
      <p:sp>
        <p:nvSpPr>
          <p:cNvPr id="3" name="Text 1"/>
          <p:cNvSpPr/>
          <p:nvPr/>
        </p:nvSpPr>
        <p:spPr>
          <a:xfrm>
            <a:off x="457200" y="438912"/>
            <a:ext cx="11247120" cy="420624"/>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Floors raise the class. The average cannot lower it.</a:t>
            </a:r>
            <a:endParaRPr lang="en-US" sz="2600" dirty="0"/>
          </a:p>
        </p:txBody>
      </p:sp>
      <p:pic>
        <p:nvPicPr>
          <p:cNvPr id="4" name="Image 0" descr="/home/sykes-sfu/Documents/Code/ATES/issw-workshop/issw2026-autoates-workshop/slides/figures/poster/fig3_classifier.png">    </p:cNvPr>
          <p:cNvPicPr>
            <a:picLocks noChangeAspect="1"/>
          </p:cNvPicPr>
          <p:nvPr/>
        </p:nvPicPr>
        <p:blipFill>
          <a:blip r:embed="rId1"/>
          <a:stretch>
            <a:fillRect/>
          </a:stretch>
        </p:blipFill>
        <p:spPr>
          <a:xfrm>
            <a:off x="2561370" y="987552"/>
            <a:ext cx="7038781" cy="5394960"/>
          </a:xfrm>
          <a:prstGeom prst="rect">
            <a:avLst/>
          </a:prstGeom>
        </p:spPr>
      </p:pic>
      <p:sp>
        <p:nvSpPr>
          <p:cNvPr id="5" name="Text 2"/>
          <p:cNvSpPr/>
          <p:nvPr/>
        </p:nvSpPr>
        <p:spPr>
          <a:xfrm>
            <a:off x="457200" y="6537960"/>
            <a:ext cx="9601200" cy="201168"/>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ISSW 2026  ·  autoATES v3.0  ·  afternoon</a:t>
            </a:r>
            <a:endParaRPr lang="en-US" sz="1200" dirty="0"/>
          </a:p>
        </p:txBody>
      </p:sp>
      <p:sp>
        <p:nvSpPr>
          <p:cNvPr id="6" name="Text 3"/>
          <p:cNvSpPr/>
          <p:nvPr/>
        </p:nvSpPr>
        <p:spPr>
          <a:xfrm>
            <a:off x="10881360" y="6537960"/>
            <a:ext cx="822960" cy="201168"/>
          </a:xfrm>
          <a:prstGeom prst="rect">
            <a:avLst/>
          </a:prstGeom>
          <a:noFill/>
          <a:ln/>
        </p:spPr>
        <p:txBody>
          <a:bodyPr wrap="square" lIns="0" tIns="0" rIns="0" bIns="0" rtlCol="0" anchor="ctr"/>
          <a:lstStyle/>
          <a:p>
            <a:pPr algn="r" indent="0" marL="0">
              <a:buNone/>
            </a:pPr>
            <a:r>
              <a:rPr lang="en-US" sz="1200" dirty="0">
                <a:solidFill>
                  <a:srgbClr val="5C6570"/>
                </a:solidFill>
                <a:latin typeface="Calibri" pitchFamily="34" charset="0"/>
                <a:ea typeface="Calibri" pitchFamily="34" charset="-122"/>
                <a:cs typeface="Calibri"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11247120" cy="237744"/>
          </a:xfrm>
          <a:prstGeom prst="rect">
            <a:avLst/>
          </a:prstGeom>
          <a:noFill/>
          <a:ln/>
        </p:spPr>
        <p:txBody>
          <a:bodyPr wrap="square" lIns="0" tIns="0" rIns="0" bIns="0" rtlCol="0" anchor="ctr"/>
          <a:lstStyle/>
          <a:p>
            <a:pPr indent="0" marL="0">
              <a:buNone/>
            </a:pPr>
            <a:r>
              <a:rPr lang="en-US" sz="1300" spc="120" kern="0" dirty="0">
                <a:solidFill>
                  <a:srgbClr val="5C6570"/>
                </a:solidFill>
                <a:latin typeface="Calibri" pitchFamily="34" charset="0"/>
                <a:ea typeface="Calibri" pitchFamily="34" charset="-122"/>
                <a:cs typeface="Calibri" pitchFamily="34" charset="-120"/>
              </a:rPr>
              <a:t>WHAT SETS THE CLASS</a:t>
            </a:r>
            <a:endParaRPr lang="en-US" sz="1300" dirty="0"/>
          </a:p>
        </p:txBody>
      </p:sp>
      <p:sp>
        <p:nvSpPr>
          <p:cNvPr id="3" name="Text 1"/>
          <p:cNvSpPr/>
          <p:nvPr/>
        </p:nvSpPr>
        <p:spPr>
          <a:xfrm>
            <a:off x="457200" y="438912"/>
            <a:ext cx="11247120" cy="420624"/>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Five decisions. The map uses these colours.</a:t>
            </a:r>
            <a:endParaRPr lang="en-US" sz="2600" dirty="0"/>
          </a:p>
        </p:txBody>
      </p:sp>
      <p:sp>
        <p:nvSpPr>
          <p:cNvPr id="4" name="Shape 2"/>
          <p:cNvSpPr/>
          <p:nvPr/>
        </p:nvSpPr>
        <p:spPr>
          <a:xfrm>
            <a:off x="457200" y="1078992"/>
            <a:ext cx="3794760" cy="804672"/>
          </a:xfrm>
          <a:prstGeom prst="rect">
            <a:avLst/>
          </a:prstGeom>
          <a:solidFill>
            <a:srgbClr val="D9D9D9"/>
          </a:solidFill>
          <a:ln/>
        </p:spPr>
      </p:sp>
      <p:sp>
        <p:nvSpPr>
          <p:cNvPr id="5" name="Text 3"/>
          <p:cNvSpPr/>
          <p:nvPr/>
        </p:nvSpPr>
        <p:spPr>
          <a:xfrm>
            <a:off x="640080" y="1078992"/>
            <a:ext cx="3474720" cy="804672"/>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0  Non-avalanche</a:t>
            </a:r>
            <a:endParaRPr lang="en-US" sz="2000" dirty="0"/>
          </a:p>
        </p:txBody>
      </p:sp>
      <p:sp>
        <p:nvSpPr>
          <p:cNvPr id="6" name="Shape 4"/>
          <p:cNvSpPr/>
          <p:nvPr/>
        </p:nvSpPr>
        <p:spPr>
          <a:xfrm>
            <a:off x="4251960" y="1078992"/>
            <a:ext cx="7452360" cy="804672"/>
          </a:xfrm>
          <a:prstGeom prst="rect">
            <a:avLst/>
          </a:prstGeom>
          <a:solidFill>
            <a:srgbClr val="F4F1EA"/>
          </a:solidFill>
          <a:ln/>
        </p:spPr>
      </p:sp>
      <p:sp>
        <p:nvSpPr>
          <p:cNvPr id="7" name="Text 5"/>
          <p:cNvSpPr/>
          <p:nvPr/>
        </p:nvSpPr>
        <p:spPr>
          <a:xfrm>
            <a:off x="4480560" y="1078992"/>
            <a:ext cx="7040880" cy="804672"/>
          </a:xfrm>
          <a:prstGeom prst="rect">
            <a:avLst/>
          </a:prstGeom>
          <a:noFill/>
          <a:ln/>
        </p:spPr>
        <p:txBody>
          <a:bodyPr wrap="square" lIns="0" tIns="0" rIns="0" bIns="0" rtlCol="0" anchor="ctr"/>
          <a:lstStyle/>
          <a:p>
            <a:pPr indent="0" marL="0">
              <a:buNone/>
            </a:pPr>
            <a:r>
              <a:rPr lang="en-US" sz="2000" dirty="0">
                <a:solidFill>
                  <a:srgbClr val="1A1A1A"/>
                </a:solidFill>
                <a:latin typeface="Calibri" pitchFamily="34" charset="0"/>
                <a:ea typeface="Calibri" pitchFamily="34" charset="-122"/>
                <a:cs typeface="Calibri" pitchFamily="34" charset="-120"/>
              </a:rPr>
              <a:t>Clear non-avalanche tests. This step can overrule a floor.</a:t>
            </a:r>
            <a:endParaRPr lang="en-US" sz="2000" dirty="0"/>
          </a:p>
        </p:txBody>
      </p:sp>
      <p:sp>
        <p:nvSpPr>
          <p:cNvPr id="8" name="Shape 6"/>
          <p:cNvSpPr/>
          <p:nvPr/>
        </p:nvSpPr>
        <p:spPr>
          <a:xfrm>
            <a:off x="457200" y="1975104"/>
            <a:ext cx="3794760" cy="804672"/>
          </a:xfrm>
          <a:prstGeom prst="rect">
            <a:avLst/>
          </a:prstGeom>
          <a:solidFill>
            <a:srgbClr val="90EF98"/>
          </a:solidFill>
          <a:ln/>
        </p:spPr>
      </p:sp>
      <p:sp>
        <p:nvSpPr>
          <p:cNvPr id="9" name="Text 7"/>
          <p:cNvSpPr/>
          <p:nvPr/>
        </p:nvSpPr>
        <p:spPr>
          <a:xfrm>
            <a:off x="640080" y="1975104"/>
            <a:ext cx="3474720" cy="804672"/>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1  Simple</a:t>
            </a:r>
            <a:endParaRPr lang="en-US" sz="2000" dirty="0"/>
          </a:p>
        </p:txBody>
      </p:sp>
      <p:sp>
        <p:nvSpPr>
          <p:cNvPr id="10" name="Shape 8"/>
          <p:cNvSpPr/>
          <p:nvPr/>
        </p:nvSpPr>
        <p:spPr>
          <a:xfrm>
            <a:off x="4251960" y="1975104"/>
            <a:ext cx="7452360" cy="804672"/>
          </a:xfrm>
          <a:prstGeom prst="rect">
            <a:avLst/>
          </a:prstGeom>
          <a:solidFill>
            <a:srgbClr val="F4F1EA"/>
          </a:solidFill>
          <a:ln/>
        </p:spPr>
      </p:sp>
      <p:sp>
        <p:nvSpPr>
          <p:cNvPr id="11" name="Text 9"/>
          <p:cNvSpPr/>
          <p:nvPr/>
        </p:nvSpPr>
        <p:spPr>
          <a:xfrm>
            <a:off x="4480560" y="1975104"/>
            <a:ext cx="7040880" cy="804672"/>
          </a:xfrm>
          <a:prstGeom prst="rect">
            <a:avLst/>
          </a:prstGeom>
          <a:noFill/>
          <a:ln/>
        </p:spPr>
        <p:txBody>
          <a:bodyPr wrap="square" lIns="0" tIns="0" rIns="0" bIns="0" rtlCol="0" anchor="ctr"/>
          <a:lstStyle/>
          <a:p>
            <a:pPr indent="0" marL="0">
              <a:buNone/>
            </a:pPr>
            <a:r>
              <a:rPr lang="en-US" sz="2000" dirty="0">
                <a:solidFill>
                  <a:srgbClr val="1A1A1A"/>
                </a:solidFill>
                <a:latin typeface="Calibri" pitchFamily="34" charset="0"/>
                <a:ea typeface="Calibri" pitchFamily="34" charset="-122"/>
                <a:cs typeface="Calibri" pitchFamily="34" charset="-120"/>
              </a:rPr>
              <a:t>Floor: inside the infrequent runout.</a:t>
            </a:r>
            <a:endParaRPr lang="en-US" sz="2000" dirty="0"/>
          </a:p>
        </p:txBody>
      </p:sp>
      <p:sp>
        <p:nvSpPr>
          <p:cNvPr id="12" name="Shape 10"/>
          <p:cNvSpPr/>
          <p:nvPr/>
        </p:nvSpPr>
        <p:spPr>
          <a:xfrm>
            <a:off x="457200" y="2871216"/>
            <a:ext cx="3794760" cy="804672"/>
          </a:xfrm>
          <a:prstGeom prst="rect">
            <a:avLst/>
          </a:prstGeom>
          <a:solidFill>
            <a:srgbClr val="00ADFF"/>
          </a:solidFill>
          <a:ln/>
        </p:spPr>
      </p:sp>
      <p:sp>
        <p:nvSpPr>
          <p:cNvPr id="13" name="Text 11"/>
          <p:cNvSpPr/>
          <p:nvPr/>
        </p:nvSpPr>
        <p:spPr>
          <a:xfrm>
            <a:off x="640080" y="2871216"/>
            <a:ext cx="3474720" cy="804672"/>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2  Challenging</a:t>
            </a:r>
            <a:endParaRPr lang="en-US" sz="2000" dirty="0"/>
          </a:p>
        </p:txBody>
      </p:sp>
      <p:sp>
        <p:nvSpPr>
          <p:cNvPr id="14" name="Shape 12"/>
          <p:cNvSpPr/>
          <p:nvPr/>
        </p:nvSpPr>
        <p:spPr>
          <a:xfrm>
            <a:off x="4251960" y="2871216"/>
            <a:ext cx="7452360" cy="804672"/>
          </a:xfrm>
          <a:prstGeom prst="rect">
            <a:avLst/>
          </a:prstGeom>
          <a:solidFill>
            <a:srgbClr val="F4F1EA"/>
          </a:solidFill>
          <a:ln/>
        </p:spPr>
      </p:sp>
      <p:sp>
        <p:nvSpPr>
          <p:cNvPr id="15" name="Text 13"/>
          <p:cNvSpPr/>
          <p:nvPr/>
        </p:nvSpPr>
        <p:spPr>
          <a:xfrm>
            <a:off x="4480560" y="2871216"/>
            <a:ext cx="7040880" cy="804672"/>
          </a:xfrm>
          <a:prstGeom prst="rect">
            <a:avLst/>
          </a:prstGeom>
          <a:noFill/>
          <a:ln/>
        </p:spPr>
        <p:txBody>
          <a:bodyPr wrap="square" lIns="0" tIns="0" rIns="0" bIns="0" rtlCol="0" anchor="ctr"/>
          <a:lstStyle/>
          <a:p>
            <a:pPr indent="0" marL="0">
              <a:buNone/>
            </a:pPr>
            <a:r>
              <a:rPr lang="en-US" sz="2000" dirty="0">
                <a:solidFill>
                  <a:srgbClr val="1A1A1A"/>
                </a:solidFill>
                <a:latin typeface="Calibri" pitchFamily="34" charset="0"/>
                <a:ea typeface="Calibri" pitchFamily="34" charset="-122"/>
                <a:cs typeface="Calibri" pitchFamily="34" charset="-120"/>
              </a:rPr>
              <a:t>Floor: inside the typical runout.</a:t>
            </a:r>
            <a:endParaRPr lang="en-US" sz="2000" dirty="0"/>
          </a:p>
        </p:txBody>
      </p:sp>
      <p:sp>
        <p:nvSpPr>
          <p:cNvPr id="16" name="Shape 14"/>
          <p:cNvSpPr/>
          <p:nvPr/>
        </p:nvSpPr>
        <p:spPr>
          <a:xfrm>
            <a:off x="457200" y="3767328"/>
            <a:ext cx="3794760" cy="804672"/>
          </a:xfrm>
          <a:prstGeom prst="rect">
            <a:avLst/>
          </a:prstGeom>
          <a:solidFill>
            <a:srgbClr val="F15393"/>
          </a:solidFill>
          <a:ln/>
        </p:spPr>
      </p:sp>
      <p:sp>
        <p:nvSpPr>
          <p:cNvPr id="17" name="Text 15"/>
          <p:cNvSpPr/>
          <p:nvPr/>
        </p:nvSpPr>
        <p:spPr>
          <a:xfrm>
            <a:off x="640080" y="3767328"/>
            <a:ext cx="3474720" cy="80467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3  Complex</a:t>
            </a:r>
            <a:endParaRPr lang="en-US" sz="2000" dirty="0"/>
          </a:p>
        </p:txBody>
      </p:sp>
      <p:sp>
        <p:nvSpPr>
          <p:cNvPr id="18" name="Shape 16"/>
          <p:cNvSpPr/>
          <p:nvPr/>
        </p:nvSpPr>
        <p:spPr>
          <a:xfrm>
            <a:off x="4251960" y="3767328"/>
            <a:ext cx="7452360" cy="804672"/>
          </a:xfrm>
          <a:prstGeom prst="rect">
            <a:avLst/>
          </a:prstGeom>
          <a:solidFill>
            <a:srgbClr val="F4F1EA"/>
          </a:solidFill>
          <a:ln/>
        </p:spPr>
      </p:sp>
      <p:sp>
        <p:nvSpPr>
          <p:cNvPr id="19" name="Text 17"/>
          <p:cNvSpPr/>
          <p:nvPr/>
        </p:nvSpPr>
        <p:spPr>
          <a:xfrm>
            <a:off x="4480560" y="3767328"/>
            <a:ext cx="7040880" cy="804672"/>
          </a:xfrm>
          <a:prstGeom prst="rect">
            <a:avLst/>
          </a:prstGeom>
          <a:noFill/>
          <a:ln/>
        </p:spPr>
        <p:txBody>
          <a:bodyPr wrap="square" lIns="0" tIns="0" rIns="0" bIns="0" rtlCol="0" anchor="ctr"/>
          <a:lstStyle/>
          <a:p>
            <a:pPr indent="0" marL="0">
              <a:buNone/>
            </a:pPr>
            <a:r>
              <a:rPr lang="en-US" sz="2000" dirty="0">
                <a:solidFill>
                  <a:srgbClr val="1A1A1A"/>
                </a:solidFill>
                <a:latin typeface="Calibri" pitchFamily="34" charset="0"/>
                <a:ea typeface="Calibri" pitchFamily="34" charset="-122"/>
                <a:cs typeface="Calibri" pitchFamily="34" charset="-120"/>
              </a:rPr>
              <a:t>Floor: overhead hazard.</a:t>
            </a:r>
            <a:endParaRPr lang="en-US" sz="2000" dirty="0"/>
          </a:p>
        </p:txBody>
      </p:sp>
      <p:sp>
        <p:nvSpPr>
          <p:cNvPr id="20" name="Shape 18"/>
          <p:cNvSpPr/>
          <p:nvPr/>
        </p:nvSpPr>
        <p:spPr>
          <a:xfrm>
            <a:off x="457200" y="4663440"/>
            <a:ext cx="3794760" cy="804672"/>
          </a:xfrm>
          <a:prstGeom prst="rect">
            <a:avLst/>
          </a:prstGeom>
          <a:solidFill>
            <a:srgbClr val="B400FF"/>
          </a:solidFill>
          <a:ln/>
        </p:spPr>
      </p:sp>
      <p:sp>
        <p:nvSpPr>
          <p:cNvPr id="21" name="Text 19"/>
          <p:cNvSpPr/>
          <p:nvPr/>
        </p:nvSpPr>
        <p:spPr>
          <a:xfrm>
            <a:off x="640080" y="4663440"/>
            <a:ext cx="3474720" cy="80467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4  Extreme</a:t>
            </a:r>
            <a:endParaRPr lang="en-US" sz="2000" dirty="0"/>
          </a:p>
        </p:txBody>
      </p:sp>
      <p:sp>
        <p:nvSpPr>
          <p:cNvPr id="22" name="Shape 20"/>
          <p:cNvSpPr/>
          <p:nvPr/>
        </p:nvSpPr>
        <p:spPr>
          <a:xfrm>
            <a:off x="4251960" y="4663440"/>
            <a:ext cx="7452360" cy="804672"/>
          </a:xfrm>
          <a:prstGeom prst="rect">
            <a:avLst/>
          </a:prstGeom>
          <a:solidFill>
            <a:srgbClr val="F4F1EA"/>
          </a:solidFill>
          <a:ln/>
        </p:spPr>
      </p:sp>
      <p:sp>
        <p:nvSpPr>
          <p:cNvPr id="23" name="Text 21"/>
          <p:cNvSpPr/>
          <p:nvPr/>
        </p:nvSpPr>
        <p:spPr>
          <a:xfrm>
            <a:off x="4480560" y="4663440"/>
            <a:ext cx="7040880" cy="804672"/>
          </a:xfrm>
          <a:prstGeom prst="rect">
            <a:avLst/>
          </a:prstGeom>
          <a:noFill/>
          <a:ln/>
        </p:spPr>
        <p:txBody>
          <a:bodyPr wrap="square" lIns="0" tIns="0" rIns="0" bIns="0" rtlCol="0" anchor="ctr"/>
          <a:lstStyle/>
          <a:p>
            <a:pPr indent="0" marL="0">
              <a:buNone/>
            </a:pPr>
            <a:r>
              <a:rPr lang="en-US" sz="2000" dirty="0">
                <a:solidFill>
                  <a:srgbClr val="1A1A1A"/>
                </a:solidFill>
                <a:latin typeface="Calibri" pitchFamily="34" charset="0"/>
                <a:ea typeface="Calibri" pitchFamily="34" charset="-122"/>
                <a:cs typeface="Calibri" pitchFamily="34" charset="-120"/>
              </a:rPr>
              <a:t>Floor: slope steeper than 45°, and open.</a:t>
            </a:r>
            <a:endParaRPr lang="en-US" sz="2000" dirty="0"/>
          </a:p>
        </p:txBody>
      </p:sp>
      <p:sp>
        <p:nvSpPr>
          <p:cNvPr id="24" name="Text 22"/>
          <p:cNvSpPr/>
          <p:nvPr/>
        </p:nvSpPr>
        <p:spPr>
          <a:xfrm>
            <a:off x="457200" y="5852160"/>
            <a:ext cx="11247120" cy="365760"/>
          </a:xfrm>
          <a:prstGeom prst="rect">
            <a:avLst/>
          </a:prstGeom>
          <a:noFill/>
          <a:ln/>
        </p:spPr>
        <p:txBody>
          <a:bodyPr wrap="square" lIns="0" tIns="0" rIns="0" bIns="0" rtlCol="0" anchor="ctr"/>
          <a:lstStyle/>
          <a:p>
            <a:pPr indent="0" marL="0">
              <a:buNone/>
            </a:pPr>
            <a:r>
              <a:rPr lang="en-US" sz="1600" dirty="0">
                <a:solidFill>
                  <a:srgbClr val="5C6570"/>
                </a:solidFill>
                <a:latin typeface="Calibri" pitchFamily="34" charset="0"/>
                <a:ea typeface="Calibri" pitchFamily="34" charset="-122"/>
                <a:cs typeface="Calibri" pitchFamily="34" charset="-120"/>
              </a:rPr>
              <a:t>Tier B is averaged with the floor, and the higher value is kept. Route options are unimplemented.</a:t>
            </a:r>
            <a:endParaRPr lang="en-US" sz="1600" dirty="0"/>
          </a:p>
        </p:txBody>
      </p:sp>
      <p:sp>
        <p:nvSpPr>
          <p:cNvPr id="25" name="Text 23"/>
          <p:cNvSpPr/>
          <p:nvPr/>
        </p:nvSpPr>
        <p:spPr>
          <a:xfrm>
            <a:off x="457200" y="6537960"/>
            <a:ext cx="9601200" cy="201168"/>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ISSW 2026  ·  autoATES v3.0  ·  afternoon</a:t>
            </a:r>
            <a:endParaRPr lang="en-US" sz="1200" dirty="0"/>
          </a:p>
        </p:txBody>
      </p:sp>
      <p:sp>
        <p:nvSpPr>
          <p:cNvPr id="26" name="Text 24"/>
          <p:cNvSpPr/>
          <p:nvPr/>
        </p:nvSpPr>
        <p:spPr>
          <a:xfrm>
            <a:off x="10881360" y="6537960"/>
            <a:ext cx="822960" cy="201168"/>
          </a:xfrm>
          <a:prstGeom prst="rect">
            <a:avLst/>
          </a:prstGeom>
          <a:noFill/>
          <a:ln/>
        </p:spPr>
        <p:txBody>
          <a:bodyPr wrap="square" lIns="0" tIns="0" rIns="0" bIns="0" rtlCol="0" anchor="ctr"/>
          <a:lstStyle/>
          <a:p>
            <a:pPr algn="r" indent="0" marL="0">
              <a:buNone/>
            </a:pPr>
            <a:r>
              <a:rPr lang="en-US" sz="1200" dirty="0">
                <a:solidFill>
                  <a:srgbClr val="5C6570"/>
                </a:solidFill>
                <a:latin typeface="Calibri" pitchFamily="34" charset="0"/>
                <a:ea typeface="Calibri" pitchFamily="34" charset="-122"/>
                <a:cs typeface="Calibri"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11247120" cy="237744"/>
          </a:xfrm>
          <a:prstGeom prst="rect">
            <a:avLst/>
          </a:prstGeom>
          <a:noFill/>
          <a:ln/>
        </p:spPr>
        <p:txBody>
          <a:bodyPr wrap="square" lIns="0" tIns="0" rIns="0" bIns="0" rtlCol="0" anchor="ctr"/>
          <a:lstStyle/>
          <a:p>
            <a:pPr indent="0" marL="0">
              <a:buNone/>
            </a:pPr>
            <a:r>
              <a:rPr lang="en-US" sz="1300" spc="120" kern="0" dirty="0">
                <a:solidFill>
                  <a:srgbClr val="5C6570"/>
                </a:solidFill>
                <a:latin typeface="Calibri" pitchFamily="34" charset="0"/>
                <a:ea typeface="Calibri" pitchFamily="34" charset="-122"/>
                <a:cs typeface="Calibri" pitchFamily="34" charset="-120"/>
              </a:rPr>
              <a:t>13:00  ·  CONNAUGHT CREEK</a:t>
            </a:r>
            <a:endParaRPr lang="en-US" sz="1300" dirty="0"/>
          </a:p>
        </p:txBody>
      </p:sp>
      <p:sp>
        <p:nvSpPr>
          <p:cNvPr id="3" name="Text 1"/>
          <p:cNvSpPr/>
          <p:nvPr/>
        </p:nvSpPr>
        <p:spPr>
          <a:xfrm>
            <a:off x="457200" y="438912"/>
            <a:ext cx="11247120" cy="420624"/>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Next notebook: these two start-zone layers.</a:t>
            </a:r>
            <a:endParaRPr lang="en-US" sz="2600" dirty="0"/>
          </a:p>
        </p:txBody>
      </p:sp>
      <p:pic>
        <p:nvPicPr>
          <p:cNvPr id="4" name="Image 0" descr="/home/sykes-sfu/Documents/Code/ATES/issw-workshop/issw2026-autoates-workshop/slides/figures/pra_two_scenarios.png">    </p:cNvPr>
          <p:cNvPicPr>
            <a:picLocks noChangeAspect="1"/>
          </p:cNvPicPr>
          <p:nvPr/>
        </p:nvPicPr>
        <p:blipFill>
          <a:blip r:embed="rId1"/>
          <a:stretch>
            <a:fillRect/>
          </a:stretch>
        </p:blipFill>
        <p:spPr>
          <a:xfrm>
            <a:off x="660938" y="987552"/>
            <a:ext cx="10839643" cy="5394960"/>
          </a:xfrm>
          <a:prstGeom prst="rect">
            <a:avLst/>
          </a:prstGeom>
        </p:spPr>
      </p:pic>
      <p:sp>
        <p:nvSpPr>
          <p:cNvPr id="5" name="Text 2"/>
          <p:cNvSpPr/>
          <p:nvPr/>
        </p:nvSpPr>
        <p:spPr>
          <a:xfrm>
            <a:off x="457200" y="6537960"/>
            <a:ext cx="9601200" cy="201168"/>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ISSW 2026  ·  autoATES v3.0  ·  afternoon</a:t>
            </a:r>
            <a:endParaRPr lang="en-US" sz="1200" dirty="0"/>
          </a:p>
        </p:txBody>
      </p:sp>
      <p:sp>
        <p:nvSpPr>
          <p:cNvPr id="6" name="Text 3"/>
          <p:cNvSpPr/>
          <p:nvPr/>
        </p:nvSpPr>
        <p:spPr>
          <a:xfrm>
            <a:off x="10881360" y="6537960"/>
            <a:ext cx="822960" cy="201168"/>
          </a:xfrm>
          <a:prstGeom prst="rect">
            <a:avLst/>
          </a:prstGeom>
          <a:noFill/>
          <a:ln/>
        </p:spPr>
        <p:txBody>
          <a:bodyPr wrap="square" lIns="0" tIns="0" rIns="0" bIns="0" rtlCol="0" anchor="ctr"/>
          <a:lstStyle/>
          <a:p>
            <a:pPr algn="r" indent="0" marL="0">
              <a:buNone/>
            </a:pPr>
            <a:r>
              <a:rPr lang="en-US" sz="1200" dirty="0">
                <a:solidFill>
                  <a:srgbClr val="5C6570"/>
                </a:solidFill>
                <a:latin typeface="Calibri" pitchFamily="34" charset="0"/>
                <a:ea typeface="Calibri" pitchFamily="34" charset="-122"/>
                <a:cs typeface="Calibri"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11247120" cy="237744"/>
          </a:xfrm>
          <a:prstGeom prst="rect">
            <a:avLst/>
          </a:prstGeom>
          <a:noFill/>
          <a:ln/>
        </p:spPr>
        <p:txBody>
          <a:bodyPr wrap="square" lIns="0" tIns="0" rIns="0" bIns="0" rtlCol="0" anchor="ctr"/>
          <a:lstStyle/>
          <a:p>
            <a:pPr indent="0" marL="0">
              <a:buNone/>
            </a:pPr>
            <a:r>
              <a:rPr lang="en-US" sz="1300" spc="120" kern="0" dirty="0">
                <a:solidFill>
                  <a:srgbClr val="5C6570"/>
                </a:solidFill>
                <a:latin typeface="Calibri" pitchFamily="34" charset="0"/>
                <a:ea typeface="Calibri" pitchFamily="34" charset="-122"/>
                <a:cs typeface="Calibri" pitchFamily="34" charset="-120"/>
              </a:rPr>
              <a:t>15:05  ·  SAME DRAINAGE</a:t>
            </a:r>
            <a:endParaRPr lang="en-US" sz="1300" dirty="0"/>
          </a:p>
        </p:txBody>
      </p:sp>
      <p:sp>
        <p:nvSpPr>
          <p:cNvPr id="3" name="Text 1"/>
          <p:cNvSpPr/>
          <p:nvPr/>
        </p:nvSpPr>
        <p:spPr>
          <a:xfrm>
            <a:off x="457200" y="438912"/>
            <a:ext cx="11247120" cy="420624"/>
          </a:xfrm>
          <a:prstGeom prst="rect">
            <a:avLst/>
          </a:prstGeom>
          <a:noFill/>
          <a:ln/>
        </p:spPr>
        <p:txBody>
          <a:bodyPr wrap="square" lIns="0" tIns="0" rIns="0" bIns="0" rtlCol="0" anchor="ctr"/>
          <a:lstStyle/>
          <a:p>
            <a:pPr indent="0" marL="0">
              <a:buNone/>
            </a:pPr>
            <a:r>
              <a:rPr lang="en-US" sz="2600" b="1" dirty="0">
                <a:solidFill>
                  <a:srgbClr val="1A1A1A"/>
                </a:solidFill>
                <a:latin typeface="Calibri" pitchFamily="34" charset="0"/>
                <a:ea typeface="Calibri" pitchFamily="34" charset="-122"/>
                <a:cs typeface="Calibri" pitchFamily="34" charset="-120"/>
              </a:rPr>
              <a:t>The classifier turns those layers into this map.</a:t>
            </a:r>
            <a:endParaRPr lang="en-US" sz="2600" dirty="0"/>
          </a:p>
        </p:txBody>
      </p:sp>
      <p:sp>
        <p:nvSpPr>
          <p:cNvPr id="4" name="Text 2"/>
          <p:cNvSpPr/>
          <p:nvPr/>
        </p:nvSpPr>
        <p:spPr>
          <a:xfrm>
            <a:off x="457200" y="1143000"/>
            <a:ext cx="4846320" cy="411480"/>
          </a:xfrm>
          <a:prstGeom prst="rect">
            <a:avLst/>
          </a:prstGeom>
          <a:noFill/>
          <a:ln/>
        </p:spPr>
        <p:txBody>
          <a:bodyPr wrap="square" lIns="0" tIns="0" rIns="0" bIns="0" rtlCol="0" anchor="ctr"/>
          <a:lstStyle/>
          <a:p>
            <a:pPr indent="0" marL="0">
              <a:buNone/>
            </a:pPr>
            <a:r>
              <a:rPr lang="en-US" sz="2200" b="1" dirty="0">
                <a:solidFill>
                  <a:srgbClr val="1B3A4B"/>
                </a:solidFill>
                <a:latin typeface="Calibri" pitchFamily="34" charset="0"/>
                <a:ea typeface="Calibri" pitchFamily="34" charset="-122"/>
                <a:cs typeface="Calibri" pitchFamily="34" charset="-120"/>
              </a:rPr>
              <a:t>Open the overlay</a:t>
            </a:r>
            <a:endParaRPr lang="en-US" sz="2200" dirty="0"/>
          </a:p>
        </p:txBody>
      </p:sp>
      <p:sp>
        <p:nvSpPr>
          <p:cNvPr id="5" name="Text 3"/>
          <p:cNvSpPr/>
          <p:nvPr/>
        </p:nvSpPr>
        <p:spPr>
          <a:xfrm>
            <a:off x="457200" y="1581912"/>
            <a:ext cx="4846320" cy="9601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Put this next to the expert consensus map. Talk about where they differ.</a:t>
            </a:r>
            <a:endParaRPr lang="en-US" sz="1600" dirty="0"/>
          </a:p>
        </p:txBody>
      </p:sp>
      <p:sp>
        <p:nvSpPr>
          <p:cNvPr id="6" name="Text 4"/>
          <p:cNvSpPr/>
          <p:nvPr/>
        </p:nvSpPr>
        <p:spPr>
          <a:xfrm>
            <a:off x="457200" y="2834640"/>
            <a:ext cx="4846320" cy="411480"/>
          </a:xfrm>
          <a:prstGeom prst="rect">
            <a:avLst/>
          </a:prstGeom>
          <a:noFill/>
          <a:ln/>
        </p:spPr>
        <p:txBody>
          <a:bodyPr wrap="square" lIns="0" tIns="0" rIns="0" bIns="0" rtlCol="0" anchor="ctr"/>
          <a:lstStyle/>
          <a:p>
            <a:pPr indent="0" marL="0">
              <a:buNone/>
            </a:pPr>
            <a:r>
              <a:rPr lang="en-US" sz="2200" b="1" dirty="0">
                <a:solidFill>
                  <a:srgbClr val="1B3A4B"/>
                </a:solidFill>
                <a:latin typeface="Calibri" pitchFamily="34" charset="0"/>
                <a:ea typeface="Calibri" pitchFamily="34" charset="-122"/>
                <a:cs typeface="Calibri" pitchFamily="34" charset="-120"/>
              </a:rPr>
              <a:t>Hold the three rules</a:t>
            </a:r>
            <a:endParaRPr lang="en-US" sz="2200" dirty="0"/>
          </a:p>
        </p:txBody>
      </p:sp>
      <p:sp>
        <p:nvSpPr>
          <p:cNvPr id="7" name="Text 5"/>
          <p:cNvSpPr/>
          <p:nvPr/>
        </p:nvSpPr>
        <p:spPr>
          <a:xfrm>
            <a:off x="457200" y="3273552"/>
            <a:ext cx="4846320" cy="9601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Reference, scenarios, published thresholds. The kappa slide is the comparison.</a:t>
            </a:r>
            <a:endParaRPr lang="en-US" sz="1600" dirty="0"/>
          </a:p>
        </p:txBody>
      </p:sp>
      <p:sp>
        <p:nvSpPr>
          <p:cNvPr id="8" name="Text 6"/>
          <p:cNvSpPr/>
          <p:nvPr/>
        </p:nvSpPr>
        <p:spPr>
          <a:xfrm>
            <a:off x="457200" y="4526280"/>
            <a:ext cx="4846320" cy="411480"/>
          </a:xfrm>
          <a:prstGeom prst="rect">
            <a:avLst/>
          </a:prstGeom>
          <a:noFill/>
          <a:ln/>
        </p:spPr>
        <p:txBody>
          <a:bodyPr wrap="square" lIns="0" tIns="0" rIns="0" bIns="0" rtlCol="0" anchor="ctr"/>
          <a:lstStyle/>
          <a:p>
            <a:pPr indent="0" marL="0">
              <a:buNone/>
            </a:pPr>
            <a:r>
              <a:rPr lang="en-US" sz="2200" b="1" dirty="0">
                <a:solidFill>
                  <a:srgbClr val="1B3A4B"/>
                </a:solidFill>
                <a:latin typeface="Calibri" pitchFamily="34" charset="0"/>
                <a:ea typeface="Calibri" pitchFamily="34" charset="-122"/>
                <a:cs typeface="Calibri" pitchFamily="34" charset="-120"/>
              </a:rPr>
              <a:t>Watch class 0</a:t>
            </a:r>
            <a:endParaRPr lang="en-US" sz="2200" dirty="0"/>
          </a:p>
        </p:txBody>
      </p:sp>
      <p:sp>
        <p:nvSpPr>
          <p:cNvPr id="9" name="Text 7"/>
          <p:cNvSpPr/>
          <p:nvPr/>
        </p:nvSpPr>
        <p:spPr>
          <a:xfrm>
            <a:off x="457200" y="4965192"/>
            <a:ext cx="4846320" cy="9601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A white cell is a claim that the tests for non-avalanche were clearly met.</a:t>
            </a:r>
            <a:endParaRPr lang="en-US" sz="1600" dirty="0"/>
          </a:p>
        </p:txBody>
      </p:sp>
      <p:pic>
        <p:nvPicPr>
          <p:cNvPr id="10" name="Image 0" descr="/home/sykes-sfu/Documents/Code/ATES/issw-workshop/issw2026-autoates-workshop/slides/figures/ates_finished.png">    </p:cNvPr>
          <p:cNvPicPr>
            <a:picLocks noChangeAspect="1"/>
          </p:cNvPicPr>
          <p:nvPr/>
        </p:nvPicPr>
        <p:blipFill>
          <a:blip r:embed="rId1"/>
          <a:stretch>
            <a:fillRect/>
          </a:stretch>
        </p:blipFill>
        <p:spPr>
          <a:xfrm>
            <a:off x="5979832" y="1051560"/>
            <a:ext cx="5322495" cy="5303520"/>
          </a:xfrm>
          <a:prstGeom prst="rect">
            <a:avLst/>
          </a:prstGeom>
        </p:spPr>
      </p:pic>
      <p:sp>
        <p:nvSpPr>
          <p:cNvPr id="11" name="Text 8"/>
          <p:cNvSpPr/>
          <p:nvPr/>
        </p:nvSpPr>
        <p:spPr>
          <a:xfrm>
            <a:off x="457200" y="6537960"/>
            <a:ext cx="9601200" cy="201168"/>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ISSW 2026  ·  autoATES v3.0  ·  afternoon</a:t>
            </a:r>
            <a:endParaRPr lang="en-US" sz="1200" dirty="0"/>
          </a:p>
        </p:txBody>
      </p:sp>
      <p:sp>
        <p:nvSpPr>
          <p:cNvPr id="12" name="Text 9"/>
          <p:cNvSpPr/>
          <p:nvPr/>
        </p:nvSpPr>
        <p:spPr>
          <a:xfrm>
            <a:off x="10881360" y="6537960"/>
            <a:ext cx="822960" cy="201168"/>
          </a:xfrm>
          <a:prstGeom prst="rect">
            <a:avLst/>
          </a:prstGeom>
          <a:noFill/>
          <a:ln/>
        </p:spPr>
        <p:txBody>
          <a:bodyPr wrap="square" lIns="0" tIns="0" rIns="0" bIns="0" rtlCol="0" anchor="ctr"/>
          <a:lstStyle/>
          <a:p>
            <a:pPr algn="r" indent="0" marL="0">
              <a:buNone/>
            </a:pPr>
            <a:r>
              <a:rPr lang="en-US" sz="1200" dirty="0">
                <a:solidFill>
                  <a:srgbClr val="5C6570"/>
                </a:solidFill>
                <a:latin typeface="Calibri" pitchFamily="34" charset="0"/>
                <a:ea typeface="Calibri" pitchFamily="34" charset="-122"/>
                <a:cs typeface="Calibri"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4B"/>
        </a:solidFill>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indent="0" marL="0">
              <a:buNone/>
            </a:pPr>
            <a:r>
              <a:rPr lang="en-US" sz="1400" spc="120" kern="0" dirty="0">
                <a:solidFill>
                  <a:srgbClr val="A8C0CC"/>
                </a:solidFill>
                <a:latin typeface="Calibri" pitchFamily="34" charset="0"/>
                <a:ea typeface="Calibri" pitchFamily="34" charset="-122"/>
                <a:cs typeface="Calibri" pitchFamily="34" charset="-120"/>
              </a:rPr>
              <a:t>THE NEXT THREE HOURS</a:t>
            </a:r>
            <a:endParaRPr lang="en-US" sz="1400" dirty="0"/>
          </a:p>
        </p:txBody>
      </p:sp>
      <p:sp>
        <p:nvSpPr>
          <p:cNvPr id="3" name="Text 1"/>
          <p:cNvSpPr/>
          <p:nvPr/>
        </p:nvSpPr>
        <p:spPr>
          <a:xfrm>
            <a:off x="640080" y="914400"/>
            <a:ext cx="192024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13:00</a:t>
            </a:r>
            <a:endParaRPr lang="en-US" sz="2600" dirty="0"/>
          </a:p>
        </p:txBody>
      </p:sp>
      <p:sp>
        <p:nvSpPr>
          <p:cNvPr id="4" name="Text 2"/>
          <p:cNvSpPr/>
          <p:nvPr/>
        </p:nvSpPr>
        <p:spPr>
          <a:xfrm>
            <a:off x="2743200" y="914400"/>
            <a:ext cx="850392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Potential release area</a:t>
            </a:r>
            <a:endParaRPr lang="en-US" sz="2600" dirty="0"/>
          </a:p>
        </p:txBody>
      </p:sp>
      <p:sp>
        <p:nvSpPr>
          <p:cNvPr id="5" name="Text 3"/>
          <p:cNvSpPr/>
          <p:nvPr/>
        </p:nvSpPr>
        <p:spPr>
          <a:xfrm>
            <a:off x="2743200" y="1417320"/>
            <a:ext cx="8503920" cy="457200"/>
          </a:xfrm>
          <a:prstGeom prst="rect">
            <a:avLst/>
          </a:prstGeom>
          <a:noFill/>
          <a:ln/>
        </p:spPr>
        <p:txBody>
          <a:bodyPr wrap="square" lIns="0" tIns="0" rIns="0" bIns="0" rtlCol="0" anchor="ctr"/>
          <a:lstStyle/>
          <a:p>
            <a:pPr indent="0" marL="0">
              <a:buNone/>
            </a:pPr>
            <a:r>
              <a:rPr lang="en-US" sz="1800" dirty="0">
                <a:solidFill>
                  <a:srgbClr val="D5E2E8"/>
                </a:solidFill>
                <a:latin typeface="Calibri" pitchFamily="34" charset="0"/>
                <a:ea typeface="Calibri" pitchFamily="34" charset="-122"/>
                <a:cs typeface="Calibri" pitchFamily="34" charset="-120"/>
              </a:rPr>
              <a:t>Both scenarios. Notebook 03. You are here.</a:t>
            </a:r>
            <a:endParaRPr lang="en-US" sz="1800" dirty="0"/>
          </a:p>
        </p:txBody>
      </p:sp>
      <p:sp>
        <p:nvSpPr>
          <p:cNvPr id="6" name="Text 4"/>
          <p:cNvSpPr/>
          <p:nvPr/>
        </p:nvSpPr>
        <p:spPr>
          <a:xfrm>
            <a:off x="640080" y="2331720"/>
            <a:ext cx="192024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13:50</a:t>
            </a:r>
            <a:endParaRPr lang="en-US" sz="2600" dirty="0"/>
          </a:p>
        </p:txBody>
      </p:sp>
      <p:sp>
        <p:nvSpPr>
          <p:cNvPr id="7" name="Text 5"/>
          <p:cNvSpPr/>
          <p:nvPr/>
        </p:nvSpPr>
        <p:spPr>
          <a:xfrm>
            <a:off x="2743200" y="2331720"/>
            <a:ext cx="850392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Runout, with BFW</a:t>
            </a:r>
            <a:endParaRPr lang="en-US" sz="2600" dirty="0"/>
          </a:p>
        </p:txBody>
      </p:sp>
      <p:sp>
        <p:nvSpPr>
          <p:cNvPr id="8" name="Text 6"/>
          <p:cNvSpPr/>
          <p:nvPr/>
        </p:nvSpPr>
        <p:spPr>
          <a:xfrm>
            <a:off x="2743200" y="2834640"/>
            <a:ext cx="8503920" cy="457200"/>
          </a:xfrm>
          <a:prstGeom prst="rect">
            <a:avLst/>
          </a:prstGeom>
          <a:noFill/>
          <a:ln/>
        </p:spPr>
        <p:txBody>
          <a:bodyPr wrap="square" lIns="0" tIns="0" rIns="0" bIns="0" rtlCol="0" anchor="ctr"/>
          <a:lstStyle/>
          <a:p>
            <a:pPr indent="0" marL="0">
              <a:buNone/>
            </a:pPr>
            <a:r>
              <a:rPr lang="en-US" sz="1800" dirty="0">
                <a:solidFill>
                  <a:srgbClr val="D5E2E8"/>
                </a:solidFill>
                <a:latin typeface="Calibri" pitchFamily="34" charset="0"/>
                <a:ea typeface="Calibri" pitchFamily="34" charset="-122"/>
                <a:cs typeface="Calibri" pitchFamily="34" charset="-120"/>
              </a:rPr>
              <a:t>com4FlowPy. Alpha 30° and alpha 18°. Notebook 04.</a:t>
            </a:r>
            <a:endParaRPr lang="en-US" sz="1800" dirty="0"/>
          </a:p>
        </p:txBody>
      </p:sp>
      <p:sp>
        <p:nvSpPr>
          <p:cNvPr id="9" name="Text 7"/>
          <p:cNvSpPr/>
          <p:nvPr/>
        </p:nvSpPr>
        <p:spPr>
          <a:xfrm>
            <a:off x="640080" y="3749040"/>
            <a:ext cx="192024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15:05</a:t>
            </a:r>
            <a:endParaRPr lang="en-US" sz="2600" dirty="0"/>
          </a:p>
        </p:txBody>
      </p:sp>
      <p:sp>
        <p:nvSpPr>
          <p:cNvPr id="10" name="Text 8"/>
          <p:cNvSpPr/>
          <p:nvPr/>
        </p:nvSpPr>
        <p:spPr>
          <a:xfrm>
            <a:off x="2743200" y="3749040"/>
            <a:ext cx="850392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Classifier</a:t>
            </a:r>
            <a:endParaRPr lang="en-US" sz="2600" dirty="0"/>
          </a:p>
        </p:txBody>
      </p:sp>
      <p:sp>
        <p:nvSpPr>
          <p:cNvPr id="11" name="Text 9"/>
          <p:cNvSpPr/>
          <p:nvPr/>
        </p:nvSpPr>
        <p:spPr>
          <a:xfrm>
            <a:off x="2743200" y="4251960"/>
            <a:ext cx="8503920" cy="457200"/>
          </a:xfrm>
          <a:prstGeom prst="rect">
            <a:avLst/>
          </a:prstGeom>
          <a:noFill/>
          <a:ln/>
        </p:spPr>
        <p:txBody>
          <a:bodyPr wrap="square" lIns="0" tIns="0" rIns="0" bIns="0" rtlCol="0" anchor="ctr"/>
          <a:lstStyle/>
          <a:p>
            <a:pPr indent="0" marL="0">
              <a:buNone/>
            </a:pPr>
            <a:r>
              <a:rPr lang="en-US" sz="1800" dirty="0">
                <a:solidFill>
                  <a:srgbClr val="D5E2E8"/>
                </a:solidFill>
                <a:latin typeface="Calibri" pitchFamily="34" charset="0"/>
                <a:ea typeface="Calibri" pitchFamily="34" charset="-122"/>
                <a:cs typeface="Calibri" pitchFamily="34" charset="-120"/>
              </a:rPr>
              <a:t>Floors, then the Connaught map beside the expert overlay. Notebook 05.</a:t>
            </a:r>
            <a:endParaRPr lang="en-US" sz="1800" dirty="0"/>
          </a:p>
        </p:txBody>
      </p:sp>
      <p:sp>
        <p:nvSpPr>
          <p:cNvPr id="12" name="Text 10"/>
          <p:cNvSpPr/>
          <p:nvPr/>
        </p:nvSpPr>
        <p:spPr>
          <a:xfrm>
            <a:off x="640080" y="5349240"/>
            <a:ext cx="10789920" cy="411480"/>
          </a:xfrm>
          <a:prstGeom prst="rect">
            <a:avLst/>
          </a:prstGeom>
          <a:noFill/>
          <a:ln/>
        </p:spPr>
        <p:txBody>
          <a:bodyPr wrap="square" lIns="0" tIns="0" rIns="0" bIns="0" rtlCol="0" anchor="ctr"/>
          <a:lstStyle/>
          <a:p>
            <a:pPr indent="0" marL="0">
              <a:buNone/>
            </a:pPr>
            <a:r>
              <a:rPr lang="en-US" sz="1600" dirty="0">
                <a:solidFill>
                  <a:srgbClr val="A8C0CC"/>
                </a:solidFill>
                <a:latin typeface="Calibri" pitchFamily="34" charset="0"/>
                <a:ea typeface="Calibri" pitchFamily="34" charset="-122"/>
                <a:cs typeface="Calibri" pitchFamily="34" charset="-120"/>
              </a:rPr>
              <a:t>If a laptop is still running, copy that folder’s outputs_reference and stay with the room.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ISSW 2026 autoATES v3.0 — afternoon</dc:title>
  <dc:subject>Two scenarios, validation, and the v3.0 classifier</dc:subject>
  <dc:creator>John Sykes</dc:creator>
  <cp:lastModifiedBy>John Sykes</cp:lastModifiedBy>
  <cp:revision>1</cp:revision>
  <dcterms:created xsi:type="dcterms:W3CDTF">2026-10-03T06:10:47Z</dcterms:created>
  <dcterms:modified xsi:type="dcterms:W3CDTF">2026-10-03T06:10:47Z</dcterms:modified>
</cp:coreProperties>
</file>