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Two tracks. Connaught 13 km2, production stack not 5 m 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Typical vs infrequent is the v3.0 design. Keep the ISSW thresholds for this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Held-out comparison drainage. Production stack, not 5 m lidar. Expert overlay is a reference, not ground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not a lidar patchwork. Extreme cliffs and isolated low-angle start zones are both harder to pick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train a model in the room. Operational binary is bundled. Then 3x3 canopy and gap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Gap is only read where the neighbourhood is forested, so alpine is not one unbounded opening. Treeline segments large PRAs; it is not an ATES input.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Published v2 sits on the calibration envelope. Keep the ISSW thresholds for this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Desktop numba: 3.4 s for both scenarios. If a laptop is still going at 14:35, load reference outputs. BFW owns this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call is atesCore. Paper hybrid is atesValidation. Class 0 is a safety decision. Discuss next to the expert overlay; do not score as an exam.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Regional calibration lives in the PRA and runout scenarios, not in retuned class thresholds.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not start a second live AOI. South Coast is QGIS-only if that extra is present.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Saturday 3 October  ·  09:00–16:00  ·  Peak Room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9659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autoATES v3.0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Connaught Creek with open-source tools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5074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run the notebooks on a laptop, or follow the same maps on the projector.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ROOM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tracks, one timetable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66160" cy="3291840"/>
          </a:xfrm>
          <a:prstGeom prst="rect">
            <a:avLst/>
          </a:prstGeom>
          <a:solidFill>
            <a:srgbClr val="F4F1EA"/>
          </a:solidFill>
          <a:ln w="12700">
            <a:solidFill>
              <a:srgbClr val="D4D0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laptop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notebook for the current module (Python 3.11 + QGIS). If a step stalls, copy that folder’s outputs_reference and continue with the group.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97680" y="1280160"/>
            <a:ext cx="3566160" cy="3291840"/>
          </a:xfrm>
          <a:prstGeom prst="rect">
            <a:avLst/>
          </a:prstGeom>
          <a:solidFill>
            <a:srgbClr val="F4F1EA"/>
          </a:solidFill>
          <a:ln w="12700">
            <a:solidFill>
              <a:srgbClr val="D4D0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463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Watching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26280" y="210312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maps are on this screen. A laptop is optional. You leave with the method, the design choices, and where to get the code.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38160" y="1280160"/>
            <a:ext cx="3566160" cy="3291840"/>
          </a:xfrm>
          <a:prstGeom prst="rect">
            <a:avLst/>
          </a:prstGeom>
          <a:solidFill>
            <a:srgbClr val="F4F1EA"/>
          </a:solidFill>
          <a:ln w="12700">
            <a:solidFill>
              <a:srgbClr val="D4D0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66760" y="1463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step stalls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366760" y="210312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data/&lt;step&gt;/outputs_reference/ lets you stay with the room. Helpers will keep the day moving so the afternoon still fits.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 from 08:15, with USB copies. Please download the folders before Saturday if you can — conference wifi is often slow.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steps. Typical and infrequent stay split.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148840" cy="301752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66928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5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ALOS 30 m surface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788920" y="1463040"/>
            <a:ext cx="2148840" cy="301752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9" name="Text 7"/>
          <p:cNvSpPr/>
          <p:nvPr/>
        </p:nvSpPr>
        <p:spPr>
          <a:xfrm>
            <a:off x="278892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898648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898648" y="30175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5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Sentinel-2 canopy + gap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120640" y="1463040"/>
            <a:ext cx="2148840" cy="301752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230368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230368" y="30175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5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/ infrequent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452360" y="1463040"/>
            <a:ext cx="2148840" cy="301752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17" name="Text 15"/>
          <p:cNvSpPr/>
          <p:nvPr/>
        </p:nvSpPr>
        <p:spPr>
          <a:xfrm>
            <a:off x="745236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562088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Runout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562088" y="30175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5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Flow-Py  α 30° / 18°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784080" y="1463040"/>
            <a:ext cx="2148840" cy="301752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21" name="Text 19"/>
          <p:cNvSpPr/>
          <p:nvPr/>
        </p:nvSpPr>
        <p:spPr>
          <a:xfrm>
            <a:off x="978408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9893808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ATES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893808" y="30175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5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Floors, then average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475488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parameterization cannot stand in for everyday events and the larger, less frequent avalanches that still belong on an ATES map.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  ·  THE MAP WE WILL REBUILD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Connaught Creek, Rogers Pass — 13 km²</a:t>
            </a:r>
            <a:endParaRPr lang="en-US" sz="2400" dirty="0"/>
          </a:p>
        </p:txBody>
      </p:sp>
      <p:pic>
        <p:nvPicPr>
          <p:cNvPr id="4" name="Image 0" descr="/home/jmsykes/Documents/Code/issw2026-autoates-workshop/slides/figures/ates_finish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27745" y="914400"/>
            <a:ext cx="5506029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09:25  ·  ELEVATION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 surface. Canopy-top in forest. Slope is smoothed.</a:t>
            </a:r>
            <a:endParaRPr lang="en-US" sz="2400" dirty="0"/>
          </a:p>
        </p:txBody>
      </p:sp>
      <p:pic>
        <p:nvPicPr>
          <p:cNvPr id="4" name="Image 0" descr="/home/jmsykes/Documents/Code/issw2026-autoates-workshop/slides/figures/elev_hillsh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077" y="914400"/>
            <a:ext cx="11023366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10:35  ·  FOREST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greenness. Winter conifer, deciduous, and gully paths.</a:t>
            </a:r>
            <a:endParaRPr lang="en-US" sz="2400" dirty="0"/>
          </a:p>
        </p:txBody>
      </p:sp>
      <p:pic>
        <p:nvPicPr>
          <p:cNvPr id="4" name="Image 0" descr="/home/jmsykes/Documents/Code/issw2026-autoates-workshop/slides/figures/forest_seas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638863"/>
            <a:ext cx="11521440" cy="40374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10:35  ·  FOREST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 uses canopy cover. The classifier uses opening size.</a:t>
            </a:r>
            <a:endParaRPr lang="en-US" sz="2400" dirty="0"/>
          </a:p>
        </p:txBody>
      </p:sp>
      <p:pic>
        <p:nvPicPr>
          <p:cNvPr id="4" name="Image 0" descr="/home/jmsykes/Documents/Code/issw2026-autoates-workshop/slides/figures/forest_cover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201" y="914400"/>
            <a:ext cx="10569118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  ·  POTENTIAL RELEASE 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is tighter. Infrequent picks up start zones below 30°.</a:t>
            </a:r>
            <a:endParaRPr lang="en-US" sz="2400" dirty="0"/>
          </a:p>
        </p:txBody>
      </p:sp>
      <p:pic>
        <p:nvPicPr>
          <p:cNvPr id="4" name="Image 0" descr="/home/jmsykes/Documents/Code/issw2026-autoates-workshop/slides/figures/pra_two_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077" y="914400"/>
            <a:ext cx="11023366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13:50  ·  RUNOUT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com4FlowPy — typical α 30°, infrequent α 18°. Not RAMMS.</a:t>
            </a:r>
            <a:endParaRPr lang="en-US" sz="2400" dirty="0"/>
          </a:p>
        </p:txBody>
      </p:sp>
      <p:pic>
        <p:nvPicPr>
          <p:cNvPr id="4" name="Image 0" descr="/home/jmsykes/Documents/Code/issw2026-autoates-workshop/slides/figures/runout_two_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077" y="914400"/>
            <a:ext cx="11023366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15:05  ·  ATES CLASSIFIER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Infrequent sets the envelope. A floor cannot be averaged down.</a:t>
            </a:r>
            <a:endParaRPr lang="en-US" sz="2400" dirty="0"/>
          </a:p>
        </p:txBody>
      </p:sp>
      <p:pic>
        <p:nvPicPr>
          <p:cNvPr id="4" name="Image 0" descr="/home/jmsykes/Documents/Code/issw2026-autoates-workshop/slides/figures/ates_finish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27745" y="914400"/>
            <a:ext cx="5506029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15:05  ·  WHAT SETS THE CLASS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 first. Then the rest is averaged.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01168" cy="868680"/>
          </a:xfrm>
          <a:prstGeom prst="rect">
            <a:avLst/>
          </a:prstGeom>
          <a:solidFill>
            <a:srgbClr val="90EF98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188720"/>
            <a:ext cx="11045952" cy="86868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9844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023360" y="1298448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Infrequent runout reach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201168" cy="868680"/>
          </a:xfrm>
          <a:prstGeom prst="rect">
            <a:avLst/>
          </a:prstGeom>
          <a:solidFill>
            <a:srgbClr val="00ADFF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240280"/>
            <a:ext cx="11045952" cy="86868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35000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023360" y="2350008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runout reach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201168" cy="868680"/>
          </a:xfrm>
          <a:prstGeom prst="rect">
            <a:avLst/>
          </a:prstGeom>
          <a:solidFill>
            <a:srgbClr val="F15393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291840"/>
            <a:ext cx="11045952" cy="86868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40156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023360" y="3401568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overhead / contributing area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57200" y="4343400"/>
            <a:ext cx="201168" cy="868680"/>
          </a:xfrm>
          <a:prstGeom prst="rect">
            <a:avLst/>
          </a:prstGeom>
          <a:solidFill>
            <a:srgbClr val="B400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4343400"/>
            <a:ext cx="11045952" cy="86868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45312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023360" y="4453128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&gt; 45° and open canopy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this at a home range with an AOI, a 30 m surface, and a canopy raster.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typical / infrequent parameters unless you have a reason and a validation set.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map from this tutorial is not an operational ATES product.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Repo, pins, and papers: SETUP.md and CITING.md in the workshop repository.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40233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Best-practices document is in development.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ISSW 2026 autoATES v3.0 workshop</dc:title>
  <dc:subject>Observer / projector deck — Connaught Creek</dc:subject>
  <dc:creator>John Sykes</dc:creator>
  <cp:lastModifiedBy>John Sykes</cp:lastModifiedBy>
  <cp:revision>1</cp:revision>
  <dcterms:created xsi:type="dcterms:W3CDTF">2026-09-17T00:47:22Z</dcterms:created>
  <dcterms:modified xsi:type="dcterms:W3CDTF">2026-09-17T00:47:22Z</dcterms:modified>
</cp:coreProperties>
</file>